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301" r:id="rId2"/>
    <p:sldId id="300" r:id="rId3"/>
    <p:sldId id="313" r:id="rId4"/>
    <p:sldId id="259" r:id="rId5"/>
    <p:sldId id="314" r:id="rId6"/>
    <p:sldId id="302" r:id="rId7"/>
    <p:sldId id="316" r:id="rId8"/>
    <p:sldId id="303" r:id="rId9"/>
    <p:sldId id="274" r:id="rId10"/>
    <p:sldId id="288" r:id="rId11"/>
    <p:sldId id="317" r:id="rId12"/>
    <p:sldId id="268" r:id="rId13"/>
    <p:sldId id="264" r:id="rId14"/>
    <p:sldId id="266" r:id="rId15"/>
    <p:sldId id="283" r:id="rId16"/>
    <p:sldId id="319" r:id="rId17"/>
    <p:sldId id="322" r:id="rId18"/>
    <p:sldId id="279" r:id="rId19"/>
    <p:sldId id="304" r:id="rId20"/>
    <p:sldId id="323" r:id="rId21"/>
    <p:sldId id="324" r:id="rId22"/>
    <p:sldId id="321" r:id="rId23"/>
    <p:sldId id="299"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27" autoAdjust="0"/>
    <p:restoredTop sz="94660"/>
  </p:normalViewPr>
  <p:slideViewPr>
    <p:cSldViewPr>
      <p:cViewPr varScale="1">
        <p:scale>
          <a:sx n="68" d="100"/>
          <a:sy n="68" d="100"/>
        </p:scale>
        <p:origin x="153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0E24C4-64A7-41B1-BE17-4D650E0E63E5}" type="datetimeFigureOut">
              <a:rPr lang="en-IN" smtClean="0"/>
              <a:pPr/>
              <a:t>13-10-2026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F1025D-0637-4F08-8DC3-AF6C81831CC1}" type="slidenum">
              <a:rPr lang="en-IN" smtClean="0"/>
              <a:pPr/>
              <a:t>‹#›</a:t>
            </a:fld>
            <a:endParaRPr lang="en-IN"/>
          </a:p>
        </p:txBody>
      </p:sp>
    </p:spTree>
    <p:extLst>
      <p:ext uri="{BB962C8B-B14F-4D97-AF65-F5344CB8AC3E}">
        <p14:creationId xmlns:p14="http://schemas.microsoft.com/office/powerpoint/2010/main" val="4170082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AF1025D-0637-4F08-8DC3-AF6C81831CC1}" type="slidenum">
              <a:rPr lang="en-IN" smtClean="0"/>
              <a:pPr/>
              <a:t>11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B05F877-F14A-4B66-BE9E-19CABF9F4BC3}" type="datetime1">
              <a:rPr lang="en-US" smtClean="0"/>
              <a:pPr/>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90830EF-8BC9-4C07-AF45-D6B295C125CD}"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454FBB-D481-4BE4-BD20-0EB32352F14A}" type="datetime1">
              <a:rPr lang="en-US" smtClean="0"/>
              <a:pPr/>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90830EF-8BC9-4C07-AF45-D6B295C125CD}"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276817-9BAE-4A49-A31A-6AD4DAA59C33}" type="datetime1">
              <a:rPr lang="en-US" smtClean="0"/>
              <a:pPr/>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90830EF-8BC9-4C07-AF45-D6B295C125CD}"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F8D8CE5-4C79-4EE8-B5F2-BA521D103F04}" type="datetime1">
              <a:rPr lang="en-US" smtClean="0"/>
              <a:pPr/>
              <a:t>10/13/2026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90830EF-8BC9-4C07-AF45-D6B295C125CD}"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2849916-CEFE-46E3-AD00-F249C211B040}" type="datetime1">
              <a:rPr lang="en-US" smtClean="0"/>
              <a:pPr/>
              <a:t>10/13/2026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90830EF-8BC9-4C07-AF45-D6B295C125CD}"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2A6ECEF-8055-4926-B05C-52BD23ED6177}" type="datetime1">
              <a:rPr lang="en-US" smtClean="0"/>
              <a:pPr/>
              <a:t>10/13/2026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90830EF-8BC9-4C07-AF45-D6B295C125CD}"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294BF7-C96B-44D8-9B63-B3B8FB90A0CC}" type="datetime1">
              <a:rPr lang="en-US" smtClean="0"/>
              <a:pPr/>
              <a:t>10/13/2026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F90830EF-8BC9-4C07-AF45-D6B295C125CD}"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A47E762-1F98-4BFF-93A2-A20EBA5D02FF}" type="datetime1">
              <a:rPr lang="en-US" smtClean="0"/>
              <a:pPr/>
              <a:t>10/13/2026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90830EF-8BC9-4C07-AF45-D6B295C125CD}"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89272A9-63EB-4D83-AB03-1299A9A17AE7}" type="datetime1">
              <a:rPr lang="en-US" smtClean="0"/>
              <a:pPr/>
              <a:t>10/13/2026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90830EF-8BC9-4C07-AF45-D6B295C125CD}"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0686E5-1BEF-4BE3-94E6-72A3767F6468}" type="datetime1">
              <a:rPr lang="en-US" smtClean="0"/>
              <a:pPr/>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90830EF-8BC9-4C07-AF45-D6B295C125CD}"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2A6C317-D673-4B60-BF48-026B2EC98A3E}" type="datetime1">
              <a:rPr lang="en-US" smtClean="0"/>
              <a:pPr/>
              <a:t>10/13/2026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90830EF-8BC9-4C07-AF45-D6B295C125CD}"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991C2B-2D1C-48EB-B04F-AECB3962BE72}" type="datetime1">
              <a:rPr lang="en-US" smtClean="0"/>
              <a:pPr/>
              <a:t>10/13/2026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0830EF-8BC9-4C07-AF45-D6B295C125CD}"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9" name="Rectangle 1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3" name="Content Placeholder 2">
            <a:extLst>
              <a:ext uri="{FF2B5EF4-FFF2-40B4-BE49-F238E27FC236}">
                <a16:creationId xmlns:a16="http://schemas.microsoft.com/office/drawing/2014/main" id="{2A8AA3B8-102B-454F-B90E-ECE5885767B6}"/>
              </a:ext>
            </a:extLst>
          </p:cNvPr>
          <p:cNvSpPr txBox="1">
            <a:spLocks/>
          </p:cNvSpPr>
          <p:nvPr/>
        </p:nvSpPr>
        <p:spPr>
          <a:xfrm>
            <a:off x="20782" y="4460471"/>
            <a:ext cx="4431802" cy="1272382"/>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lgn="ctr">
              <a:buFont typeface="Arial" pitchFamily="34" charset="0"/>
              <a:buNone/>
            </a:pPr>
            <a:endParaRPr lang="en-IN" sz="1700" dirty="0">
              <a:solidFill>
                <a:schemeClr val="tx1"/>
              </a:solidFill>
              <a:latin typeface="Times New Roman" panose="02020603050405020304" pitchFamily="18" charset="0"/>
              <a:cs typeface="Times New Roman" pitchFamily="18" charset="0"/>
            </a:endParaRPr>
          </a:p>
        </p:txBody>
      </p:sp>
      <p:graphicFrame>
        <p:nvGraphicFramePr>
          <p:cNvPr id="16" name="Table 7">
            <a:extLst>
              <a:ext uri="{FF2B5EF4-FFF2-40B4-BE49-F238E27FC236}">
                <a16:creationId xmlns:a16="http://schemas.microsoft.com/office/drawing/2014/main" id="{8B39C0FD-E153-48D8-8D97-D786523A29A8}"/>
              </a:ext>
            </a:extLst>
          </p:cNvPr>
          <p:cNvGraphicFramePr>
            <a:graphicFrameLocks noGrp="1"/>
          </p:cNvGraphicFramePr>
          <p:nvPr>
            <p:extLst>
              <p:ext uri="{D42A27DB-BD31-4B8C-83A1-F6EECF244321}">
                <p14:modId xmlns:p14="http://schemas.microsoft.com/office/powerpoint/2010/main" val="8648774"/>
              </p:ext>
            </p:extLst>
          </p:nvPr>
        </p:nvGraphicFramePr>
        <p:xfrm>
          <a:off x="4419601" y="4460471"/>
          <a:ext cx="4305650" cy="701040"/>
        </p:xfrm>
        <a:graphic>
          <a:graphicData uri="http://schemas.openxmlformats.org/drawingml/2006/table">
            <a:tbl>
              <a:tblPr firstRow="1" bandRow="1">
                <a:tableStyleId>{2D5ABB26-0587-4C30-8999-92F81FD0307C}</a:tableStyleId>
              </a:tblPr>
              <a:tblGrid>
                <a:gridCol w="4305650">
                  <a:extLst>
                    <a:ext uri="{9D8B030D-6E8A-4147-A177-3AD203B41FA5}">
                      <a16:colId xmlns:a16="http://schemas.microsoft.com/office/drawing/2014/main" val="2628362268"/>
                    </a:ext>
                  </a:extLst>
                </a:gridCol>
              </a:tblGrid>
              <a:tr h="367613">
                <a:tc>
                  <a:txBody>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b="1" kern="1200" dirty="0">
                          <a:solidFill>
                            <a:schemeClr val="tx1"/>
                          </a:solidFill>
                          <a:effectLst/>
                          <a:latin typeface="Times New Roman" panose="02020603050405020304" pitchFamily="18" charset="0"/>
                          <a:ea typeface="+mn-ea"/>
                          <a:cs typeface="Times New Roman" panose="02020603050405020304" pitchFamily="18" charset="0"/>
                        </a:rPr>
                        <a:t>PROJECT MEMBERS</a:t>
                      </a:r>
                      <a:br>
                        <a:rPr lang="en-US" sz="2000" b="1" kern="1200" dirty="0">
                          <a:solidFill>
                            <a:schemeClr val="tx1"/>
                          </a:solidFill>
                          <a:effectLst/>
                          <a:latin typeface="Times New Roman" panose="02020603050405020304" pitchFamily="18" charset="0"/>
                          <a:ea typeface="+mn-ea"/>
                          <a:cs typeface="Times New Roman" panose="02020603050405020304" pitchFamily="18" charset="0"/>
                        </a:rPr>
                      </a:br>
                      <a:r>
                        <a:rPr lang="en-US" sz="2000" b="0" kern="1200" dirty="0">
                          <a:solidFill>
                            <a:schemeClr val="tx1"/>
                          </a:solidFill>
                          <a:effectLst/>
                          <a:latin typeface="Times New Roman" panose="02020603050405020304" pitchFamily="18" charset="0"/>
                          <a:ea typeface="+mn-ea"/>
                          <a:cs typeface="Times New Roman" panose="02020603050405020304" pitchFamily="18" charset="0"/>
                        </a:rPr>
                        <a:t>NAME</a:t>
                      </a:r>
                      <a:endParaRPr lang="en-IN" sz="1800" b="0" dirty="0">
                        <a:effectLst/>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56661750"/>
                  </a:ext>
                </a:extLst>
              </a:tr>
            </a:tbl>
          </a:graphicData>
        </a:graphic>
      </p:graphicFrame>
      <p:sp>
        <p:nvSpPr>
          <p:cNvPr id="11" name="Rectangle 10">
            <a:extLst>
              <a:ext uri="{FF2B5EF4-FFF2-40B4-BE49-F238E27FC236}">
                <a16:creationId xmlns:a16="http://schemas.microsoft.com/office/drawing/2014/main" id="{B7D818E7-D461-4A64-887A-36DD1B9BC530}"/>
              </a:ext>
            </a:extLst>
          </p:cNvPr>
          <p:cNvSpPr/>
          <p:nvPr/>
        </p:nvSpPr>
        <p:spPr>
          <a:xfrm>
            <a:off x="343250" y="2608123"/>
            <a:ext cx="8382000" cy="830997"/>
          </a:xfrm>
          <a:prstGeom prst="rect">
            <a:avLst/>
          </a:prstGeom>
        </p:spPr>
        <p:txBody>
          <a:bodyPr wrap="square">
            <a:spAutoFit/>
          </a:bodyPr>
          <a:lstStyle/>
          <a:p>
            <a:pPr algn="ctr"/>
            <a:endParaRPr lang="en-US" sz="2400" b="1"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SMART GARBAGE MONITORING SYSTEM USING IOT </a:t>
            </a:r>
            <a:endParaRPr lang="en-IN"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F0C1C0DD-A67B-4337-AE29-6CF1FDF10985}"/>
              </a:ext>
            </a:extLst>
          </p:cNvPr>
          <p:cNvSpPr>
            <a:spLocks noGrp="1"/>
          </p:cNvSpPr>
          <p:nvPr>
            <p:ph type="sldNum" sz="quarter" idx="12"/>
          </p:nvPr>
        </p:nvSpPr>
        <p:spPr/>
        <p:txBody>
          <a:bodyPr/>
          <a:lstStyle/>
          <a:p>
            <a:fld id="{F90830EF-8BC9-4C07-AF45-D6B295C125CD}" type="slidenum">
              <a:rPr lang="en-US" smtClean="0">
                <a:solidFill>
                  <a:sysClr val="windowText" lastClr="000000"/>
                </a:solidFill>
                <a:latin typeface="Times New Roman" panose="02020603050405020304" pitchFamily="18" charset="0"/>
                <a:cs typeface="Times New Roman" panose="02020603050405020304" pitchFamily="18" charset="0"/>
              </a:rPr>
              <a:pPr/>
              <a:t>1</a:t>
            </a:fld>
            <a:endParaRPr lang="en-US" dirty="0">
              <a:solidFill>
                <a:sysClr val="windowText" lastClr="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28600"/>
            <a:ext cx="8229600" cy="731226"/>
          </a:xfrm>
        </p:spPr>
        <p:txBody>
          <a:bodyPr>
            <a:normAutofit/>
          </a:bodyPr>
          <a:lstStyle/>
          <a:p>
            <a:r>
              <a:rPr lang="tr-TR"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OUTL</a:t>
            </a:r>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I</a:t>
            </a:r>
            <a:r>
              <a:rPr lang="tr-TR"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NE</a:t>
            </a:r>
            <a:endParaRPr lang="en-US" sz="3200" dirty="0">
              <a:solidFill>
                <a:srgbClr val="FF0000"/>
              </a:solidFill>
              <a:effectLst>
                <a:outerShdw blurRad="38100" dist="38100" dir="2700000" algn="tl">
                  <a:srgbClr val="000000">
                    <a:alpha val="43137"/>
                  </a:srgbClr>
                </a:outerShdw>
              </a:effectLst>
            </a:endParaRPr>
          </a:p>
        </p:txBody>
      </p:sp>
      <p:sp>
        <p:nvSpPr>
          <p:cNvPr id="8" name="Rectangle 7"/>
          <p:cNvSpPr/>
          <p:nvPr/>
        </p:nvSpPr>
        <p:spPr>
          <a:xfrm>
            <a:off x="609600" y="1219200"/>
            <a:ext cx="8651631" cy="4922951"/>
          </a:xfrm>
          <a:prstGeom prst="rect">
            <a:avLst/>
          </a:prstGeom>
        </p:spPr>
        <p:txBody>
          <a:bodyPr wrap="square">
            <a:spAutoFit/>
          </a:bodyPr>
          <a:lstStyle/>
          <a:p>
            <a:pPr marL="1200150" lvl="2" indent="-285750">
              <a:lnSpc>
                <a:spcPct val="200000"/>
              </a:lnSpc>
              <a:buClr>
                <a:schemeClr val="tx1"/>
              </a:buClr>
              <a:buSzPct val="920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 Objective</a:t>
            </a:r>
          </a:p>
          <a:p>
            <a:pPr marL="1200150" lvl="2" indent="-285750">
              <a:lnSpc>
                <a:spcPct val="200000"/>
              </a:lnSpc>
              <a:buClr>
                <a:schemeClr val="tx1"/>
              </a:buClr>
              <a:buSzPct val="920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 Abstract </a:t>
            </a:r>
          </a:p>
          <a:p>
            <a:pPr marL="1200150" lvl="2" indent="-285750">
              <a:lnSpc>
                <a:spcPct val="200000"/>
              </a:lnSpc>
              <a:buClr>
                <a:schemeClr val="tx1"/>
              </a:buClr>
              <a:buSzPct val="920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 Introduction </a:t>
            </a:r>
          </a:p>
          <a:p>
            <a:pPr marL="1200150" lvl="2" indent="-285750">
              <a:lnSpc>
                <a:spcPct val="200000"/>
              </a:lnSpc>
              <a:buClr>
                <a:schemeClr val="tx1"/>
              </a:buClr>
              <a:buSzPct val="920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 Literature Review and Summary</a:t>
            </a:r>
          </a:p>
          <a:p>
            <a:pPr marL="1200150" lvl="2" indent="-285750">
              <a:lnSpc>
                <a:spcPct val="200000"/>
              </a:lnSpc>
              <a:buClr>
                <a:schemeClr val="tx1"/>
              </a:buClr>
              <a:buSzPct val="920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 Existing system</a:t>
            </a:r>
          </a:p>
          <a:p>
            <a:pPr marL="1200150" lvl="2" indent="-285750">
              <a:lnSpc>
                <a:spcPct val="200000"/>
              </a:lnSpc>
              <a:buClr>
                <a:schemeClr val="tx1"/>
              </a:buClr>
              <a:buSzPct val="920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 Proposed  system</a:t>
            </a:r>
          </a:p>
          <a:p>
            <a:pPr marL="1200150" lvl="2" indent="-285750">
              <a:lnSpc>
                <a:spcPct val="200000"/>
              </a:lnSpc>
              <a:buClr>
                <a:schemeClr val="tx1"/>
              </a:buClr>
              <a:buSzPct val="920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Conclusion</a:t>
            </a:r>
          </a:p>
          <a:p>
            <a:pPr marL="1200150" lvl="2" indent="-285750">
              <a:lnSpc>
                <a:spcPct val="200000"/>
              </a:lnSpc>
              <a:buClr>
                <a:schemeClr val="tx1"/>
              </a:buClr>
              <a:buSzPct val="92000"/>
              <a:buFont typeface="Wingdings" panose="05000000000000000000" pitchFamily="2" charset="2"/>
              <a:buChar char="ü"/>
            </a:pPr>
            <a:r>
              <a:rPr lang="en-US" sz="2000" dirty="0">
                <a:latin typeface="Times New Roman" panose="02020603050405020304" pitchFamily="18" charset="0"/>
                <a:cs typeface="Times New Roman" panose="02020603050405020304" pitchFamily="18" charset="0"/>
              </a:rPr>
              <a:t>Queries</a:t>
            </a:r>
          </a:p>
        </p:txBody>
      </p:sp>
      <p:sp>
        <p:nvSpPr>
          <p:cNvPr id="4" name="Slide Number Placeholder 3">
            <a:extLst>
              <a:ext uri="{FF2B5EF4-FFF2-40B4-BE49-F238E27FC236}">
                <a16:creationId xmlns:a16="http://schemas.microsoft.com/office/drawing/2014/main" id="{E79FFE26-46B2-4DCA-BE18-0F35D2D15D58}"/>
              </a:ext>
            </a:extLst>
          </p:cNvPr>
          <p:cNvSpPr>
            <a:spLocks noGrp="1"/>
          </p:cNvSpPr>
          <p:nvPr>
            <p:ph type="sldNum" sz="quarter" idx="12"/>
          </p:nvPr>
        </p:nvSpPr>
        <p:spPr/>
        <p:txBody>
          <a:bodyPr/>
          <a:lstStyle/>
          <a:p>
            <a:fld id="{F90830EF-8BC9-4C07-AF45-D6B295C125CD}" type="slidenum">
              <a:rPr lang="en-US" smtClean="0">
                <a:solidFill>
                  <a:sysClr val="windowText" lastClr="000000"/>
                </a:solidFill>
                <a:latin typeface="Times New Roman" panose="02020603050405020304" pitchFamily="18" charset="0"/>
                <a:cs typeface="Times New Roman" panose="02020603050405020304" pitchFamily="18" charset="0"/>
              </a:rPr>
              <a:pPr/>
              <a:t>2</a:t>
            </a:fld>
            <a:endParaRPr lang="en-US" dirty="0">
              <a:solidFill>
                <a:sysClr val="windowText" lastClr="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B95DB-A8C7-4C10-BFAA-D39B82D62D3C}"/>
              </a:ext>
            </a:extLst>
          </p:cNvPr>
          <p:cNvSpPr txBox="1">
            <a:spLocks/>
          </p:cNvSpPr>
          <p:nvPr/>
        </p:nvSpPr>
        <p:spPr>
          <a:xfrm>
            <a:off x="457200" y="609600"/>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OBJECTIVE</a:t>
            </a:r>
            <a:endParaRPr lang="en-IN" sz="3200" dirty="0">
              <a:solidFill>
                <a:srgbClr val="FF0000"/>
              </a:solidFill>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FC35D258-27D8-4308-8EFB-F1C9370D121D}"/>
              </a:ext>
            </a:extLst>
          </p:cNvPr>
          <p:cNvSpPr txBox="1">
            <a:spLocks/>
          </p:cNvSpPr>
          <p:nvPr/>
        </p:nvSpPr>
        <p:spPr>
          <a:xfrm>
            <a:off x="457200" y="1752600"/>
            <a:ext cx="8229600" cy="4038600"/>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50000"/>
              </a:lnSpc>
              <a:buFont typeface="Wingdings" panose="05000000000000000000" pitchFamily="2" charset="2"/>
              <a:buChar char="Ø"/>
            </a:pPr>
            <a:r>
              <a:rPr lang="en-US" sz="2400" dirty="0">
                <a:latin typeface="Times New Roman" pitchFamily="18" charset="0"/>
                <a:cs typeface="Times New Roman" pitchFamily="18" charset="0"/>
              </a:rPr>
              <a:t>To maintain the level of cleanliness in the city and form an environment which is better for living. </a:t>
            </a:r>
          </a:p>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warn the person about the garbage level using sensor detection</a:t>
            </a:r>
          </a:p>
          <a:p>
            <a:pPr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monitor the garbage level  and also to send a message when the garbage reaches 100</a:t>
            </a:r>
            <a:r>
              <a:rPr lang="en-US" sz="2400">
                <a:latin typeface="Times New Roman" panose="02020603050405020304" pitchFamily="18" charset="0"/>
                <a:cs typeface="Times New Roman" panose="02020603050405020304" pitchFamily="18" charset="0"/>
              </a:rPr>
              <a:t>%   using </a:t>
            </a:r>
            <a:r>
              <a:rPr lang="en-US" sz="2400" dirty="0">
                <a:latin typeface="Times New Roman" panose="02020603050405020304" pitchFamily="18" charset="0"/>
                <a:cs typeface="Times New Roman" panose="02020603050405020304" pitchFamily="18" charset="0"/>
              </a:rPr>
              <a:t>IoT.</a:t>
            </a:r>
          </a:p>
          <a:p>
            <a:endParaRPr lang="en-IN" dirty="0"/>
          </a:p>
        </p:txBody>
      </p:sp>
      <p:sp>
        <p:nvSpPr>
          <p:cNvPr id="5" name="Slide Number Placeholder 4">
            <a:extLst>
              <a:ext uri="{FF2B5EF4-FFF2-40B4-BE49-F238E27FC236}">
                <a16:creationId xmlns:a16="http://schemas.microsoft.com/office/drawing/2014/main" id="{3325D21C-A337-44F9-AD12-1162280F86F6}"/>
              </a:ext>
            </a:extLst>
          </p:cNvPr>
          <p:cNvSpPr>
            <a:spLocks noGrp="1"/>
          </p:cNvSpPr>
          <p:nvPr>
            <p:ph type="sldNum" sz="quarter" idx="12"/>
          </p:nvPr>
        </p:nvSpPr>
        <p:spPr/>
        <p:txBody>
          <a:bodyPr/>
          <a:lstStyle/>
          <a:p>
            <a:fld id="{F90830EF-8BC9-4C07-AF45-D6B295C125CD}" type="slidenum">
              <a:rPr lang="en-US" smtClean="0">
                <a:solidFill>
                  <a:sysClr val="windowText" lastClr="000000"/>
                </a:solidFill>
                <a:latin typeface="Times New Roman" panose="02020603050405020304" pitchFamily="18" charset="0"/>
                <a:cs typeface="Times New Roman" panose="02020603050405020304" pitchFamily="18" charset="0"/>
              </a:rPr>
              <a:pPr/>
              <a:t>3</a:t>
            </a:fld>
            <a:endParaRPr lang="en-US" dirty="0">
              <a:solidFill>
                <a:sysClr val="windowText" lastClr="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89866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9">
            <a:extLst>
              <a:ext uri="{FF2B5EF4-FFF2-40B4-BE49-F238E27FC236}">
                <a16:creationId xmlns:a16="http://schemas.microsoft.com/office/drawing/2014/main" id="{923F3A5D-69E9-4792-9E87-B91337BC0542}"/>
              </a:ext>
            </a:extLst>
          </p:cNvPr>
          <p:cNvSpPr txBox="1">
            <a:spLocks/>
          </p:cNvSpPr>
          <p:nvPr/>
        </p:nvSpPr>
        <p:spPr>
          <a:xfrm>
            <a:off x="457200" y="376451"/>
            <a:ext cx="8229600" cy="614149"/>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ABSTRACT</a:t>
            </a:r>
            <a:endParaRPr lang="en-IN" sz="32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Content Placeholder 20">
            <a:extLst>
              <a:ext uri="{FF2B5EF4-FFF2-40B4-BE49-F238E27FC236}">
                <a16:creationId xmlns:a16="http://schemas.microsoft.com/office/drawing/2014/main" id="{C0DB3DE5-7391-44B8-A6B9-1A50EF49264F}"/>
              </a:ext>
            </a:extLst>
          </p:cNvPr>
          <p:cNvSpPr txBox="1">
            <a:spLocks/>
          </p:cNvSpPr>
          <p:nvPr/>
        </p:nvSpPr>
        <p:spPr>
          <a:xfrm>
            <a:off x="457200" y="1295400"/>
            <a:ext cx="8229600" cy="5334000"/>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110000"/>
              </a:lnSpc>
              <a:buFont typeface="Wingdings" panose="05000000000000000000" pitchFamily="2" charset="2"/>
              <a:buChar char="Ø"/>
            </a:pPr>
            <a:r>
              <a:rPr lang="en-US" sz="2400" dirty="0">
                <a:latin typeface="Times New Roman" pitchFamily="18" charset="0"/>
                <a:cs typeface="Times New Roman" pitchFamily="18" charset="0"/>
              </a:rPr>
              <a:t>The increase in population, has led to tremendous degradation in the state of affairs of hygiene with respect to waste management system. The spillover of waste in civic areas generates the polluted condition in the neighboring areas. </a:t>
            </a:r>
          </a:p>
          <a:p>
            <a:pPr algn="just">
              <a:lnSpc>
                <a:spcPct val="110000"/>
              </a:lnSpc>
              <a:buFont typeface="Wingdings" panose="05000000000000000000" pitchFamily="2" charset="2"/>
              <a:buChar char="Ø"/>
            </a:pPr>
            <a:r>
              <a:rPr lang="en-US" sz="2400" dirty="0">
                <a:latin typeface="Times New Roman" pitchFamily="18" charset="0"/>
                <a:cs typeface="Times New Roman" pitchFamily="18" charset="0"/>
              </a:rPr>
              <a:t>This is proposed on IT based smart waste clean management system which checks the waste level over the dustbins by using Sensor systems.</a:t>
            </a:r>
          </a:p>
          <a:p>
            <a:pPr algn="just">
              <a:lnSpc>
                <a:spcPct val="110000"/>
              </a:lnSpc>
              <a:buFont typeface="Wingdings" panose="05000000000000000000" pitchFamily="2" charset="2"/>
              <a:buChar char="Ø"/>
            </a:pPr>
            <a:r>
              <a:rPr lang="en-US" sz="2400" dirty="0">
                <a:latin typeface="Times New Roman" pitchFamily="18" charset="0"/>
                <a:cs typeface="Times New Roman" pitchFamily="18" charset="0"/>
              </a:rPr>
              <a:t>To monitor and integrate an android application is developed for the desired information which is related to the various level of waste.</a:t>
            </a:r>
          </a:p>
          <a:p>
            <a:pPr algn="just">
              <a:lnSpc>
                <a:spcPct val="110000"/>
              </a:lnSpc>
              <a:buFont typeface="Wingdings" panose="05000000000000000000" pitchFamily="2" charset="2"/>
              <a:buChar char="Ø"/>
            </a:pPr>
            <a:r>
              <a:rPr lang="en-US" sz="2400" dirty="0">
                <a:latin typeface="Times New Roman" pitchFamily="18" charset="0"/>
                <a:cs typeface="Times New Roman" pitchFamily="18" charset="0"/>
              </a:rPr>
              <a:t>This is ensued the greenish in the environment and support for </a:t>
            </a:r>
            <a:r>
              <a:rPr lang="en-US" sz="2400" dirty="0" err="1">
                <a:latin typeface="Times New Roman" pitchFamily="18" charset="0"/>
                <a:cs typeface="Times New Roman" pitchFamily="18" charset="0"/>
              </a:rPr>
              <a:t>Swachh</a:t>
            </a:r>
            <a:r>
              <a:rPr lang="en-US" sz="2400" dirty="0">
                <a:latin typeface="Times New Roman" pitchFamily="18" charset="0"/>
                <a:cs typeface="Times New Roman" pitchFamily="18" charset="0"/>
              </a:rPr>
              <a:t> Bharat for cleanness.</a:t>
            </a:r>
            <a:endParaRPr lang="en-IN" sz="2400" dirty="0">
              <a:latin typeface="Times New Roman" pitchFamily="18" charset="0"/>
              <a:cs typeface="Times New Roman" pitchFamily="18" charset="0"/>
            </a:endParaRPr>
          </a:p>
        </p:txBody>
      </p:sp>
      <p:sp>
        <p:nvSpPr>
          <p:cNvPr id="3" name="Slide Number Placeholder 2">
            <a:extLst>
              <a:ext uri="{FF2B5EF4-FFF2-40B4-BE49-F238E27FC236}">
                <a16:creationId xmlns:a16="http://schemas.microsoft.com/office/drawing/2014/main" id="{1CDF4F58-6801-4322-A266-75EA073C48EB}"/>
              </a:ext>
            </a:extLst>
          </p:cNvPr>
          <p:cNvSpPr>
            <a:spLocks noGrp="1"/>
          </p:cNvSpPr>
          <p:nvPr>
            <p:ph type="sldNum" sz="quarter" idx="12"/>
          </p:nvPr>
        </p:nvSpPr>
        <p:spPr/>
        <p:txBody>
          <a:bodyPr/>
          <a:lstStyle/>
          <a:p>
            <a:fld id="{F90830EF-8BC9-4C07-AF45-D6B295C125CD}" type="slidenum">
              <a:rPr lang="en-US" smtClean="0">
                <a:solidFill>
                  <a:sysClr val="windowText" lastClr="000000"/>
                </a:solidFill>
                <a:latin typeface="Times New Roman" panose="02020603050405020304" pitchFamily="18" charset="0"/>
                <a:cs typeface="Times New Roman" panose="02020603050405020304" pitchFamily="18" charset="0"/>
              </a:rPr>
              <a:pPr/>
              <a:t>4</a:t>
            </a:fld>
            <a:endParaRPr lang="en-US" dirty="0">
              <a:solidFill>
                <a:sysClr val="windowText" lastClr="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9269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33400" y="228600"/>
            <a:ext cx="8229600" cy="1143000"/>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itchFamily="18" charset="0"/>
              </a:rPr>
              <a:t>INTRODUCTION</a:t>
            </a:r>
          </a:p>
        </p:txBody>
      </p:sp>
      <p:sp>
        <p:nvSpPr>
          <p:cNvPr id="3" name="Content Placeholder 2"/>
          <p:cNvSpPr>
            <a:spLocks noGrp="1"/>
          </p:cNvSpPr>
          <p:nvPr>
            <p:ph idx="4294967295"/>
          </p:nvPr>
        </p:nvSpPr>
        <p:spPr>
          <a:xfrm>
            <a:off x="551688" y="1588008"/>
            <a:ext cx="8305800" cy="5029200"/>
          </a:xfrm>
        </p:spPr>
        <p:txBody>
          <a:bodyPr>
            <a:noAutofit/>
          </a:bodyPr>
          <a:lstStyle/>
          <a:p>
            <a:pPr algn="just">
              <a:buFont typeface="Wingdings" panose="05000000000000000000" pitchFamily="2" charset="2"/>
              <a:buChar char="Ø"/>
            </a:pPr>
            <a:r>
              <a:rPr lang="en-US" sz="2400" dirty="0">
                <a:latin typeface="Times New Roman" pitchFamily="18" charset="0"/>
                <a:cs typeface="Times New Roman" pitchFamily="18" charset="0"/>
              </a:rPr>
              <a:t>We are living in an age where tasks and systems are fusing together with the power of IOT to have a more efficient system of working and to execute jobs quickly.</a:t>
            </a:r>
          </a:p>
          <a:p>
            <a:pPr algn="just">
              <a:buFont typeface="Wingdings" panose="05000000000000000000" pitchFamily="2" charset="2"/>
              <a:buChar char="Ø"/>
            </a:pPr>
            <a:r>
              <a:rPr lang="en-US" sz="2400" dirty="0">
                <a:latin typeface="Times New Roman" pitchFamily="18" charset="0"/>
                <a:cs typeface="Times New Roman" pitchFamily="18" charset="0"/>
              </a:rPr>
              <a:t>One of the main concerns with our environment has been solid waste management which impacts the health and environment of our society. </a:t>
            </a:r>
          </a:p>
          <a:p>
            <a:pPr algn="just">
              <a:buFont typeface="Wingdings" panose="05000000000000000000" pitchFamily="2" charset="2"/>
              <a:buChar char="Ø"/>
            </a:pPr>
            <a:r>
              <a:rPr lang="en-US" sz="2400" dirty="0">
                <a:latin typeface="Times New Roman" pitchFamily="18" charset="0"/>
                <a:cs typeface="Times New Roman" pitchFamily="18" charset="0"/>
              </a:rPr>
              <a:t>The traditional way of manually monitoring the wastes in waste bins is a cumbersome process and utilizes more human effort, time and cost.</a:t>
            </a:r>
          </a:p>
          <a:p>
            <a:pPr algn="just">
              <a:buFont typeface="Wingdings" panose="05000000000000000000" pitchFamily="2" charset="2"/>
              <a:buChar char="Ø"/>
            </a:pPr>
            <a:r>
              <a:rPr lang="en-US" sz="2400" dirty="0">
                <a:latin typeface="Times New Roman" pitchFamily="18" charset="0"/>
                <a:cs typeface="Times New Roman" pitchFamily="18" charset="0"/>
              </a:rPr>
              <a:t>It can be easily avoided by our present technologies. </a:t>
            </a:r>
            <a:endParaRPr lang="en-US" sz="2000" dirty="0">
              <a:latin typeface="Times New Roman" pitchFamily="18" charset="0"/>
              <a:cs typeface="Times New Roman" pitchFamily="18" charset="0"/>
            </a:endParaRPr>
          </a:p>
        </p:txBody>
      </p:sp>
      <p:sp>
        <p:nvSpPr>
          <p:cNvPr id="5" name="Slide Number Placeholder 4">
            <a:extLst>
              <a:ext uri="{FF2B5EF4-FFF2-40B4-BE49-F238E27FC236}">
                <a16:creationId xmlns:a16="http://schemas.microsoft.com/office/drawing/2014/main" id="{E6B36C6E-F4E1-434C-9C75-A578EA6C0101}"/>
              </a:ext>
            </a:extLst>
          </p:cNvPr>
          <p:cNvSpPr>
            <a:spLocks noGrp="1"/>
          </p:cNvSpPr>
          <p:nvPr>
            <p:ph type="sldNum" sz="quarter" idx="12"/>
          </p:nvPr>
        </p:nvSpPr>
        <p:spPr/>
        <p:txBody>
          <a:bodyPr/>
          <a:lstStyle/>
          <a:p>
            <a:fld id="{F90830EF-8BC9-4C07-AF45-D6B295C125CD}" type="slidenum">
              <a:rPr lang="en-US" smtClean="0">
                <a:solidFill>
                  <a:sysClr val="windowText" lastClr="000000"/>
                </a:solidFill>
                <a:latin typeface="Times New Roman" panose="02020603050405020304" pitchFamily="18" charset="0"/>
                <a:cs typeface="Times New Roman" panose="02020603050405020304" pitchFamily="18" charset="0"/>
              </a:rPr>
              <a:pPr/>
              <a:t>5</a:t>
            </a:fld>
            <a:endParaRPr lang="en-US" dirty="0">
              <a:solidFill>
                <a:sysClr val="windowText" lastClr="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8166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 name="Table 1"/>
          <p:cNvGraphicFramePr/>
          <p:nvPr>
            <p:extLst>
              <p:ext uri="{D42A27DB-BD31-4B8C-83A1-F6EECF244321}">
                <p14:modId xmlns:p14="http://schemas.microsoft.com/office/powerpoint/2010/main" val="3235548133"/>
              </p:ext>
            </p:extLst>
          </p:nvPr>
        </p:nvGraphicFramePr>
        <p:xfrm>
          <a:off x="365759" y="1505243"/>
          <a:ext cx="8473441" cy="4451736"/>
        </p:xfrm>
        <a:graphic>
          <a:graphicData uri="http://schemas.openxmlformats.org/drawingml/2006/table">
            <a:tbl>
              <a:tblPr>
                <a:tableStyleId>{5940675A-B579-460E-94D1-54222C63F5DA}</a:tableStyleId>
              </a:tblPr>
              <a:tblGrid>
                <a:gridCol w="873728">
                  <a:extLst>
                    <a:ext uri="{9D8B030D-6E8A-4147-A177-3AD203B41FA5}">
                      <a16:colId xmlns:a16="http://schemas.microsoft.com/office/drawing/2014/main" val="20000"/>
                    </a:ext>
                  </a:extLst>
                </a:gridCol>
                <a:gridCol w="3101010">
                  <a:extLst>
                    <a:ext uri="{9D8B030D-6E8A-4147-A177-3AD203B41FA5}">
                      <a16:colId xmlns:a16="http://schemas.microsoft.com/office/drawing/2014/main" val="20001"/>
                    </a:ext>
                  </a:extLst>
                </a:gridCol>
                <a:gridCol w="1918694">
                  <a:extLst>
                    <a:ext uri="{9D8B030D-6E8A-4147-A177-3AD203B41FA5}">
                      <a16:colId xmlns:a16="http://schemas.microsoft.com/office/drawing/2014/main" val="20002"/>
                    </a:ext>
                  </a:extLst>
                </a:gridCol>
                <a:gridCol w="2580009">
                  <a:extLst>
                    <a:ext uri="{9D8B030D-6E8A-4147-A177-3AD203B41FA5}">
                      <a16:colId xmlns:a16="http://schemas.microsoft.com/office/drawing/2014/main" val="20003"/>
                    </a:ext>
                  </a:extLst>
                </a:gridCol>
              </a:tblGrid>
              <a:tr h="789354">
                <a:tc>
                  <a:txBody>
                    <a:bodyPr/>
                    <a:lstStyle/>
                    <a:p>
                      <a:pPr algn="ctr">
                        <a:lnSpc>
                          <a:spcPct val="100000"/>
                        </a:lnSpc>
                      </a:pPr>
                      <a:r>
                        <a:rPr lang="en-US" sz="1500" b="1" strike="noStrike" spc="-1" dirty="0">
                          <a:solidFill>
                            <a:srgbClr val="FF0000"/>
                          </a:solidFill>
                          <a:latin typeface="Times New Roman" panose="02020603050405020304" pitchFamily="18" charset="0"/>
                          <a:cs typeface="Times New Roman" panose="02020603050405020304" pitchFamily="18" charset="0"/>
                        </a:rPr>
                        <a:t>S. No </a:t>
                      </a:r>
                      <a:endParaRPr lang="en-IN" sz="1500" b="1" strike="noStrike" spc="-1" dirty="0">
                        <a:solidFill>
                          <a:srgbClr val="FF0000"/>
                        </a:solidFill>
                        <a:latin typeface="Times New Roman" panose="02020603050405020304" pitchFamily="18" charset="0"/>
                        <a:cs typeface="Times New Roman" panose="02020603050405020304" pitchFamily="18" charset="0"/>
                      </a:endParaRPr>
                    </a:p>
                  </a:txBody>
                  <a:tcPr marL="68580" marR="68580" marT="34290" marB="34290" anchor="ctr"/>
                </a:tc>
                <a:tc>
                  <a:txBody>
                    <a:bodyPr/>
                    <a:lstStyle/>
                    <a:p>
                      <a:pPr algn="ctr">
                        <a:lnSpc>
                          <a:spcPct val="100000"/>
                        </a:lnSpc>
                      </a:pPr>
                      <a:r>
                        <a:rPr lang="en-US" sz="1500" b="1" strike="noStrike" spc="-1" dirty="0">
                          <a:solidFill>
                            <a:srgbClr val="FF0000"/>
                          </a:solidFill>
                          <a:latin typeface="Times New Roman" panose="02020603050405020304" pitchFamily="18" charset="0"/>
                          <a:cs typeface="Times New Roman" panose="02020603050405020304" pitchFamily="18" charset="0"/>
                        </a:rPr>
                        <a:t>TITLE</a:t>
                      </a:r>
                      <a:endParaRPr lang="en-IN" sz="1500" b="1" strike="noStrike" spc="-1" dirty="0">
                        <a:solidFill>
                          <a:srgbClr val="FF0000"/>
                        </a:solidFill>
                        <a:latin typeface="Times New Roman" panose="02020603050405020304" pitchFamily="18" charset="0"/>
                        <a:cs typeface="Times New Roman" panose="02020603050405020304" pitchFamily="18" charset="0"/>
                      </a:endParaRPr>
                    </a:p>
                  </a:txBody>
                  <a:tcPr marL="68580" marR="68580" marT="34290" marB="34290" anchor="ctr"/>
                </a:tc>
                <a:tc>
                  <a:txBody>
                    <a:bodyPr/>
                    <a:lstStyle/>
                    <a:p>
                      <a:pPr algn="ctr">
                        <a:lnSpc>
                          <a:spcPct val="100000"/>
                        </a:lnSpc>
                      </a:pPr>
                      <a:r>
                        <a:rPr lang="en-US" sz="1500" b="1" strike="noStrike" spc="-1" dirty="0">
                          <a:solidFill>
                            <a:srgbClr val="FF0000"/>
                          </a:solidFill>
                          <a:latin typeface="Times New Roman" panose="02020603050405020304" pitchFamily="18" charset="0"/>
                          <a:cs typeface="Times New Roman" panose="02020603050405020304" pitchFamily="18" charset="0"/>
                        </a:rPr>
                        <a:t>AUTHOR(S)</a:t>
                      </a:r>
                      <a:endParaRPr lang="en-IN" sz="1500" b="1" strike="noStrike" spc="-1" dirty="0">
                        <a:solidFill>
                          <a:srgbClr val="FF0000"/>
                        </a:solidFill>
                        <a:latin typeface="Times New Roman" panose="02020603050405020304" pitchFamily="18" charset="0"/>
                        <a:cs typeface="Times New Roman" panose="02020603050405020304" pitchFamily="18" charset="0"/>
                      </a:endParaRPr>
                    </a:p>
                  </a:txBody>
                  <a:tcPr marL="68580" marR="68580" marT="34290" marB="34290" anchor="ctr"/>
                </a:tc>
                <a:tc>
                  <a:txBody>
                    <a:bodyPr/>
                    <a:lstStyle/>
                    <a:p>
                      <a:pPr algn="ctr">
                        <a:lnSpc>
                          <a:spcPct val="100000"/>
                        </a:lnSpc>
                      </a:pPr>
                      <a:r>
                        <a:rPr lang="en-US" sz="1500" b="1" strike="noStrike" spc="-1" dirty="0">
                          <a:solidFill>
                            <a:srgbClr val="FF0000"/>
                          </a:solidFill>
                          <a:latin typeface="Times New Roman" panose="02020603050405020304" pitchFamily="18" charset="0"/>
                          <a:cs typeface="Times New Roman" panose="02020603050405020304" pitchFamily="18" charset="0"/>
                        </a:rPr>
                        <a:t>REMARKS</a:t>
                      </a:r>
                      <a:endParaRPr lang="en-IN" sz="1500" b="1" strike="noStrike" spc="-1" dirty="0">
                        <a:solidFill>
                          <a:srgbClr val="FF0000"/>
                        </a:solidFill>
                        <a:latin typeface="Times New Roman" panose="02020603050405020304" pitchFamily="18" charset="0"/>
                        <a:cs typeface="Times New Roman" panose="02020603050405020304" pitchFamily="18" charset="0"/>
                      </a:endParaRPr>
                    </a:p>
                  </a:txBody>
                  <a:tcPr marL="68580" marR="68580" marT="34290" marB="34290" anchor="ctr"/>
                </a:tc>
                <a:extLst>
                  <a:ext uri="{0D108BD9-81ED-4DB2-BD59-A6C34878D82A}">
                    <a16:rowId xmlns:a16="http://schemas.microsoft.com/office/drawing/2014/main" val="10000"/>
                  </a:ext>
                </a:extLst>
              </a:tr>
              <a:tr h="1544022">
                <a:tc>
                  <a:txBody>
                    <a:bodyPr/>
                    <a:lstStyle/>
                    <a:p>
                      <a:pPr algn="ctr"/>
                      <a:r>
                        <a:rPr lang="en-IN" sz="1900" b="0" dirty="0">
                          <a:latin typeface="Times New Roman" panose="02020603050405020304" pitchFamily="18" charset="0"/>
                          <a:cs typeface="Times New Roman" panose="02020603050405020304" pitchFamily="18" charset="0"/>
                        </a:rPr>
                        <a:t>1.</a:t>
                      </a:r>
                    </a:p>
                  </a:txBody>
                  <a:tcPr anchor="ctr"/>
                </a:tc>
                <a:tc>
                  <a:txBody>
                    <a:bodyPr/>
                    <a:lstStyle/>
                    <a:p>
                      <a:pPr algn="l"/>
                      <a:r>
                        <a:rPr lang="en-US" sz="1900" b="0" kern="1200" dirty="0">
                          <a:solidFill>
                            <a:schemeClr val="tx1"/>
                          </a:solidFill>
                          <a:latin typeface="Times New Roman" pitchFamily="18" charset="0"/>
                          <a:ea typeface="+mn-ea"/>
                          <a:cs typeface="Times New Roman" pitchFamily="18" charset="0"/>
                        </a:rPr>
                        <a:t>Smart garbage monitoring system using Internet of things</a:t>
                      </a:r>
                      <a:endParaRPr lang="en-IN" sz="1900" b="0" dirty="0">
                        <a:latin typeface="Times New Roman" pitchFamily="18" charset="0"/>
                        <a:cs typeface="Times New Roman" pitchFamily="18" charset="0"/>
                      </a:endParaRPr>
                    </a:p>
                  </a:txBody>
                  <a:tcPr anchor="ctr"/>
                </a:tc>
                <a:tc>
                  <a:txBody>
                    <a:bodyPr/>
                    <a:lstStyle/>
                    <a:p>
                      <a:pPr algn="l"/>
                      <a:r>
                        <a:rPr lang="en-US" sz="1900" b="0" kern="1200" dirty="0">
                          <a:solidFill>
                            <a:schemeClr val="tx1"/>
                          </a:solidFill>
                          <a:latin typeface="Times New Roman" pitchFamily="18" charset="0"/>
                          <a:ea typeface="+mn-ea"/>
                          <a:cs typeface="Times New Roman" pitchFamily="18" charset="0"/>
                        </a:rPr>
                        <a:t>P. </a:t>
                      </a:r>
                      <a:r>
                        <a:rPr lang="en-US" sz="1900" b="0" kern="1200" dirty="0" err="1">
                          <a:solidFill>
                            <a:schemeClr val="tx1"/>
                          </a:solidFill>
                          <a:latin typeface="Times New Roman" pitchFamily="18" charset="0"/>
                          <a:ea typeface="+mn-ea"/>
                          <a:cs typeface="Times New Roman" pitchFamily="18" charset="0"/>
                        </a:rPr>
                        <a:t>Arunadevi</a:t>
                      </a:r>
                      <a:r>
                        <a:rPr lang="en-US" sz="1900" b="0" kern="1200" dirty="0">
                          <a:solidFill>
                            <a:schemeClr val="tx1"/>
                          </a:solidFill>
                          <a:latin typeface="Times New Roman" pitchFamily="18" charset="0"/>
                          <a:ea typeface="+mn-ea"/>
                          <a:cs typeface="Times New Roman" pitchFamily="18" charset="0"/>
                        </a:rPr>
                        <a:t>, </a:t>
                      </a:r>
                      <a:r>
                        <a:rPr lang="en-US" sz="1900" b="0" kern="1200" dirty="0" err="1">
                          <a:solidFill>
                            <a:schemeClr val="tx1"/>
                          </a:solidFill>
                          <a:latin typeface="Times New Roman" pitchFamily="18" charset="0"/>
                          <a:ea typeface="+mn-ea"/>
                          <a:cs typeface="Times New Roman" pitchFamily="18" charset="0"/>
                        </a:rPr>
                        <a:t>S.Karthika</a:t>
                      </a:r>
                      <a:r>
                        <a:rPr lang="en-US" sz="1900" b="0" kern="1200" dirty="0">
                          <a:solidFill>
                            <a:schemeClr val="tx1"/>
                          </a:solidFill>
                          <a:latin typeface="Times New Roman" pitchFamily="18" charset="0"/>
                          <a:ea typeface="+mn-ea"/>
                          <a:cs typeface="Times New Roman" pitchFamily="18" charset="0"/>
                        </a:rPr>
                        <a:t>, </a:t>
                      </a:r>
                      <a:r>
                        <a:rPr lang="en-US" sz="1900" b="0" kern="1200" dirty="0" err="1">
                          <a:solidFill>
                            <a:schemeClr val="tx1"/>
                          </a:solidFill>
                          <a:latin typeface="Times New Roman" pitchFamily="18" charset="0"/>
                          <a:ea typeface="+mn-ea"/>
                          <a:cs typeface="Times New Roman" pitchFamily="18" charset="0"/>
                        </a:rPr>
                        <a:t>V.V.Swetha</a:t>
                      </a:r>
                      <a:r>
                        <a:rPr lang="en-US" sz="1900" b="0" kern="1200" dirty="0">
                          <a:solidFill>
                            <a:schemeClr val="tx1"/>
                          </a:solidFill>
                          <a:latin typeface="Times New Roman" pitchFamily="18" charset="0"/>
                          <a:ea typeface="+mn-ea"/>
                          <a:cs typeface="Times New Roman" pitchFamily="18" charset="0"/>
                        </a:rPr>
                        <a:t> raj and </a:t>
                      </a:r>
                      <a:r>
                        <a:rPr lang="en-US" sz="1900" b="0" kern="1200" dirty="0" err="1">
                          <a:solidFill>
                            <a:schemeClr val="tx1"/>
                          </a:solidFill>
                          <a:latin typeface="Times New Roman" pitchFamily="18" charset="0"/>
                          <a:ea typeface="+mn-ea"/>
                          <a:cs typeface="Times New Roman" pitchFamily="18" charset="0"/>
                        </a:rPr>
                        <a:t>K.Aamir</a:t>
                      </a:r>
                      <a:r>
                        <a:rPr lang="en-US" sz="1900" b="0" kern="1200" dirty="0">
                          <a:solidFill>
                            <a:schemeClr val="tx1"/>
                          </a:solidFill>
                          <a:latin typeface="Times New Roman" pitchFamily="18" charset="0"/>
                          <a:ea typeface="+mn-ea"/>
                          <a:cs typeface="Times New Roman" pitchFamily="18" charset="0"/>
                        </a:rPr>
                        <a:t> </a:t>
                      </a:r>
                      <a:r>
                        <a:rPr lang="en-US" sz="1900" b="0" kern="1200" dirty="0" err="1">
                          <a:solidFill>
                            <a:schemeClr val="tx1"/>
                          </a:solidFill>
                          <a:latin typeface="Times New Roman" pitchFamily="18" charset="0"/>
                          <a:ea typeface="+mn-ea"/>
                          <a:cs typeface="Times New Roman" pitchFamily="18" charset="0"/>
                        </a:rPr>
                        <a:t>suhail</a:t>
                      </a:r>
                      <a:r>
                        <a:rPr lang="en-US" sz="1900" b="0" kern="1200" dirty="0">
                          <a:solidFill>
                            <a:schemeClr val="tx1"/>
                          </a:solidFill>
                          <a:latin typeface="Times New Roman" pitchFamily="18" charset="0"/>
                          <a:ea typeface="+mn-ea"/>
                          <a:cs typeface="Times New Roman" pitchFamily="18" charset="0"/>
                        </a:rPr>
                        <a:t> (2019)</a:t>
                      </a:r>
                      <a:endParaRPr lang="en-IN" sz="1900" b="0" dirty="0">
                        <a:latin typeface="Times New Roman" pitchFamily="18" charset="0"/>
                        <a:cs typeface="Times New Roman"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900" dirty="0">
                          <a:latin typeface="Times New Roman" panose="02020603050405020304" pitchFamily="18" charset="0"/>
                          <a:cs typeface="Times New Roman" panose="02020603050405020304" pitchFamily="18" charset="0"/>
                        </a:rPr>
                        <a:t>The measuring  distance is not accurate.</a:t>
                      </a:r>
                    </a:p>
                    <a:p>
                      <a:pPr algn="l"/>
                      <a:endParaRPr lang="en-IN" sz="19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002"/>
                  </a:ext>
                </a:extLst>
              </a:tr>
              <a:tr h="1544022">
                <a:tc>
                  <a:txBody>
                    <a:bodyPr/>
                    <a:lstStyle/>
                    <a:p>
                      <a:pPr algn="ctr"/>
                      <a:r>
                        <a:rPr lang="en-US" sz="1900" dirty="0">
                          <a:latin typeface="Times New Roman" panose="02020603050405020304" pitchFamily="18" charset="0"/>
                          <a:cs typeface="Times New Roman" panose="02020603050405020304" pitchFamily="18" charset="0"/>
                        </a:rPr>
                        <a:t>2.</a:t>
                      </a:r>
                      <a:endParaRPr lang="en-IN" sz="1900" b="0" dirty="0">
                        <a:latin typeface="Times New Roman" panose="02020603050405020304" pitchFamily="18" charset="0"/>
                        <a:cs typeface="Times New Roman" panose="02020603050405020304" pitchFamily="18" charset="0"/>
                      </a:endParaRPr>
                    </a:p>
                  </a:txBody>
                  <a:tcPr anchor="ctr"/>
                </a:tc>
                <a:tc>
                  <a:txBody>
                    <a:bodyPr/>
                    <a:lstStyle/>
                    <a:p>
                      <a:pPr algn="l"/>
                      <a:r>
                        <a:rPr lang="en-US" sz="1900" b="0" kern="1200" dirty="0">
                          <a:solidFill>
                            <a:schemeClr val="tx1"/>
                          </a:solidFill>
                          <a:latin typeface="Times New Roman" pitchFamily="18" charset="0"/>
                          <a:ea typeface="+mn-ea"/>
                          <a:cs typeface="Times New Roman" pitchFamily="18" charset="0"/>
                        </a:rPr>
                        <a:t>A Survey of smart garbage management in cities using IOT</a:t>
                      </a:r>
                      <a:endParaRPr lang="en-IN" sz="1900" b="0" dirty="0">
                        <a:latin typeface="Times New Roman" pitchFamily="18" charset="0"/>
                        <a:cs typeface="Times New Roman" pitchFamily="18" charset="0"/>
                      </a:endParaRPr>
                    </a:p>
                  </a:txBody>
                  <a:tcPr anchor="ctr"/>
                </a:tc>
                <a:tc>
                  <a:txBody>
                    <a:bodyPr/>
                    <a:lstStyle/>
                    <a:p>
                      <a:pPr algn="l"/>
                      <a:r>
                        <a:rPr lang="en-US" sz="1900" b="0" kern="1200" dirty="0" err="1">
                          <a:solidFill>
                            <a:schemeClr val="tx1"/>
                          </a:solidFill>
                          <a:latin typeface="Times New Roman" pitchFamily="18" charset="0"/>
                          <a:ea typeface="+mn-ea"/>
                          <a:cs typeface="Times New Roman" pitchFamily="18" charset="0"/>
                        </a:rPr>
                        <a:t>Ruhin</a:t>
                      </a:r>
                      <a:r>
                        <a:rPr lang="en-US" sz="1900" b="0" kern="1200" dirty="0">
                          <a:solidFill>
                            <a:schemeClr val="tx1"/>
                          </a:solidFill>
                          <a:latin typeface="Times New Roman" pitchFamily="18" charset="0"/>
                          <a:ea typeface="+mn-ea"/>
                          <a:cs typeface="Times New Roman" pitchFamily="18" charset="0"/>
                        </a:rPr>
                        <a:t> </a:t>
                      </a:r>
                      <a:r>
                        <a:rPr lang="en-US" sz="1900" b="0" kern="1200" dirty="0" err="1">
                          <a:solidFill>
                            <a:schemeClr val="tx1"/>
                          </a:solidFill>
                          <a:latin typeface="Times New Roman" pitchFamily="18" charset="0"/>
                          <a:ea typeface="+mn-ea"/>
                          <a:cs typeface="Times New Roman" pitchFamily="18" charset="0"/>
                        </a:rPr>
                        <a:t>mary</a:t>
                      </a:r>
                      <a:r>
                        <a:rPr lang="en-US" sz="1900" b="0" kern="1200" dirty="0">
                          <a:solidFill>
                            <a:schemeClr val="tx1"/>
                          </a:solidFill>
                          <a:latin typeface="Times New Roman" pitchFamily="18" charset="0"/>
                          <a:ea typeface="+mn-ea"/>
                          <a:cs typeface="Times New Roman" pitchFamily="18" charset="0"/>
                        </a:rPr>
                        <a:t> </a:t>
                      </a:r>
                      <a:r>
                        <a:rPr lang="en-US" sz="1900" b="0" kern="1200" dirty="0" err="1">
                          <a:solidFill>
                            <a:schemeClr val="tx1"/>
                          </a:solidFill>
                          <a:latin typeface="Times New Roman" pitchFamily="18" charset="0"/>
                          <a:ea typeface="+mn-ea"/>
                          <a:cs typeface="Times New Roman" pitchFamily="18" charset="0"/>
                        </a:rPr>
                        <a:t>saji</a:t>
                      </a:r>
                      <a:r>
                        <a:rPr lang="en-US" sz="1900" b="0" kern="1200" dirty="0">
                          <a:solidFill>
                            <a:schemeClr val="tx1"/>
                          </a:solidFill>
                          <a:latin typeface="Times New Roman" pitchFamily="18" charset="0"/>
                          <a:ea typeface="+mn-ea"/>
                          <a:cs typeface="Times New Roman" pitchFamily="18" charset="0"/>
                        </a:rPr>
                        <a:t>, </a:t>
                      </a:r>
                      <a:r>
                        <a:rPr lang="en-US" sz="1900" b="0" kern="1200" dirty="0" err="1">
                          <a:solidFill>
                            <a:schemeClr val="tx1"/>
                          </a:solidFill>
                          <a:latin typeface="Times New Roman" pitchFamily="18" charset="0"/>
                          <a:ea typeface="+mn-ea"/>
                          <a:cs typeface="Times New Roman" pitchFamily="18" charset="0"/>
                        </a:rPr>
                        <a:t>Drishya</a:t>
                      </a:r>
                      <a:r>
                        <a:rPr lang="en-US" sz="1900" b="0" kern="1200" dirty="0">
                          <a:solidFill>
                            <a:schemeClr val="tx1"/>
                          </a:solidFill>
                          <a:latin typeface="Times New Roman" pitchFamily="18" charset="0"/>
                          <a:ea typeface="+mn-ea"/>
                          <a:cs typeface="Times New Roman" pitchFamily="18" charset="0"/>
                        </a:rPr>
                        <a:t> </a:t>
                      </a:r>
                      <a:r>
                        <a:rPr lang="en-US" sz="1900" b="0" kern="1200" dirty="0" err="1">
                          <a:solidFill>
                            <a:schemeClr val="tx1"/>
                          </a:solidFill>
                          <a:latin typeface="Times New Roman" pitchFamily="18" charset="0"/>
                          <a:ea typeface="+mn-ea"/>
                          <a:cs typeface="Times New Roman" pitchFamily="18" charset="0"/>
                        </a:rPr>
                        <a:t>gopakumar</a:t>
                      </a:r>
                      <a:r>
                        <a:rPr lang="en-US" sz="1900" b="0" kern="1200" dirty="0">
                          <a:solidFill>
                            <a:schemeClr val="tx1"/>
                          </a:solidFill>
                          <a:latin typeface="Times New Roman" pitchFamily="18" charset="0"/>
                          <a:ea typeface="+mn-ea"/>
                          <a:cs typeface="Times New Roman" pitchFamily="18" charset="0"/>
                        </a:rPr>
                        <a:t>, Mohammed </a:t>
                      </a:r>
                      <a:r>
                        <a:rPr lang="en-US" sz="1900" b="0" kern="1200" dirty="0" err="1">
                          <a:solidFill>
                            <a:schemeClr val="tx1"/>
                          </a:solidFill>
                          <a:latin typeface="Times New Roman" pitchFamily="18" charset="0"/>
                          <a:ea typeface="+mn-ea"/>
                          <a:cs typeface="Times New Roman" pitchFamily="18" charset="0"/>
                        </a:rPr>
                        <a:t>sayed</a:t>
                      </a:r>
                      <a:r>
                        <a:rPr lang="en-US" sz="1900" b="0" kern="1200" dirty="0">
                          <a:solidFill>
                            <a:schemeClr val="tx1"/>
                          </a:solidFill>
                          <a:latin typeface="Times New Roman" pitchFamily="18" charset="0"/>
                          <a:ea typeface="+mn-ea"/>
                          <a:cs typeface="Times New Roman" pitchFamily="18" charset="0"/>
                        </a:rPr>
                        <a:t>, </a:t>
                      </a:r>
                      <a:r>
                        <a:rPr lang="en-US" sz="1900" b="0" kern="1200" dirty="0" err="1">
                          <a:solidFill>
                            <a:schemeClr val="tx1"/>
                          </a:solidFill>
                          <a:latin typeface="Times New Roman" pitchFamily="18" charset="0"/>
                          <a:ea typeface="+mn-ea"/>
                          <a:cs typeface="Times New Roman" pitchFamily="18" charset="0"/>
                        </a:rPr>
                        <a:t>Lakshmi</a:t>
                      </a:r>
                      <a:r>
                        <a:rPr lang="en-US" sz="1900" b="0" kern="1200" dirty="0">
                          <a:solidFill>
                            <a:schemeClr val="tx1"/>
                          </a:solidFill>
                          <a:latin typeface="Times New Roman" pitchFamily="18" charset="0"/>
                          <a:ea typeface="+mn-ea"/>
                          <a:cs typeface="Times New Roman" pitchFamily="18" charset="0"/>
                        </a:rPr>
                        <a:t> and </a:t>
                      </a:r>
                      <a:r>
                        <a:rPr lang="en-US" sz="1900" b="0" kern="1200" dirty="0" err="1">
                          <a:solidFill>
                            <a:schemeClr val="tx1"/>
                          </a:solidFill>
                          <a:latin typeface="Times New Roman" pitchFamily="18" charset="0"/>
                          <a:ea typeface="+mn-ea"/>
                          <a:cs typeface="Times New Roman" pitchFamily="18" charset="0"/>
                        </a:rPr>
                        <a:t>Harishkumar</a:t>
                      </a:r>
                      <a:r>
                        <a:rPr lang="en-US" sz="1900" b="0" kern="1200" dirty="0">
                          <a:solidFill>
                            <a:schemeClr val="tx1"/>
                          </a:solidFill>
                          <a:latin typeface="Times New Roman" pitchFamily="18" charset="0"/>
                          <a:ea typeface="+mn-ea"/>
                          <a:cs typeface="Times New Roman" pitchFamily="18" charset="0"/>
                        </a:rPr>
                        <a:t> (2016), </a:t>
                      </a:r>
                      <a:endParaRPr lang="en-IN" sz="1900" b="0" dirty="0">
                        <a:latin typeface="Times New Roman" pitchFamily="18" charset="0"/>
                        <a:cs typeface="Times New Roman" pitchFamily="18" charset="0"/>
                      </a:endParaRPr>
                    </a:p>
                  </a:txBody>
                  <a:tcPr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900" dirty="0">
                          <a:latin typeface="Times New Roman" panose="02020603050405020304" pitchFamily="18" charset="0"/>
                          <a:cs typeface="Times New Roman" panose="02020603050405020304" pitchFamily="18" charset="0"/>
                        </a:rPr>
                        <a:t>More  sensors is  used so it need more maintenance.</a:t>
                      </a:r>
                      <a:r>
                        <a:rPr lang="en-IN" sz="1900" baseline="0" dirty="0">
                          <a:latin typeface="Times New Roman" panose="02020603050405020304" pitchFamily="18" charset="0"/>
                          <a:cs typeface="Times New Roman" panose="02020603050405020304" pitchFamily="18" charset="0"/>
                        </a:rPr>
                        <a:t> </a:t>
                      </a:r>
                      <a:endParaRPr lang="en-IN" sz="1900" dirty="0">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en-US" sz="1900" kern="1200" dirty="0">
                        <a:solidFill>
                          <a:schemeClr val="tx1"/>
                        </a:solidFill>
                        <a:latin typeface="Times New Roman" panose="02020603050405020304" pitchFamily="18" charset="0"/>
                        <a:ea typeface="+mn-ea"/>
                        <a:cs typeface="Times New Roman" panose="02020603050405020304" pitchFamily="18" charset="0"/>
                      </a:endParaRPr>
                    </a:p>
                  </a:txBody>
                  <a:tcPr anchor="ctr"/>
                </a:tc>
                <a:extLst>
                  <a:ext uri="{0D108BD9-81ED-4DB2-BD59-A6C34878D82A}">
                    <a16:rowId xmlns:a16="http://schemas.microsoft.com/office/drawing/2014/main" val="3569569729"/>
                  </a:ext>
                </a:extLst>
              </a:tr>
            </a:tbl>
          </a:graphicData>
        </a:graphic>
      </p:graphicFrame>
      <p:sp>
        <p:nvSpPr>
          <p:cNvPr id="103" name="TextShape 2"/>
          <p:cNvSpPr txBox="1"/>
          <p:nvPr/>
        </p:nvSpPr>
        <p:spPr>
          <a:xfrm>
            <a:off x="457335" y="609600"/>
            <a:ext cx="8229330" cy="537300"/>
          </a:xfrm>
          <a:prstGeom prst="rect">
            <a:avLst/>
          </a:prstGeom>
          <a:noFill/>
          <a:ln>
            <a:noFill/>
          </a:ln>
        </p:spPr>
        <p:txBody>
          <a:bodyPr lIns="67500" tIns="33750" rIns="67500" bIns="33750" anchor="ctr">
            <a:noAutofit/>
          </a:bodyPr>
          <a:lstStyle/>
          <a:p>
            <a:pPr algn="ctr">
              <a:lnSpc>
                <a:spcPct val="100000"/>
              </a:lnSpc>
            </a:pPr>
            <a:r>
              <a:rPr lang="en-US" sz="3200" b="1" spc="-1" dirty="0">
                <a:solidFill>
                  <a:srgbClr val="FF0000"/>
                </a:solidFill>
                <a:effectLst>
                  <a:outerShdw blurRad="38100" dist="38100" dir="2700000" algn="tl">
                    <a:srgbClr val="000000">
                      <a:alpha val="43137"/>
                    </a:srgbClr>
                  </a:outerShdw>
                </a:effectLst>
                <a:latin typeface="Times New Roman"/>
              </a:rPr>
              <a:t>LITERATURE REVIEW</a:t>
            </a:r>
            <a:endParaRPr lang="en-US" sz="3200" spc="-1" dirty="0">
              <a:solidFill>
                <a:srgbClr val="FF0000"/>
              </a:solidFill>
              <a:effectLst>
                <a:outerShdw blurRad="38100" dist="38100" dir="2700000" algn="tl">
                  <a:srgbClr val="000000">
                    <a:alpha val="43137"/>
                  </a:srgbClr>
                </a:outerShdw>
              </a:effectLst>
              <a:latin typeface="Lucida Sans Unicode"/>
            </a:endParaRPr>
          </a:p>
        </p:txBody>
      </p:sp>
      <p:sp>
        <p:nvSpPr>
          <p:cNvPr id="3" name="Slide Number Placeholder 2">
            <a:extLst>
              <a:ext uri="{FF2B5EF4-FFF2-40B4-BE49-F238E27FC236}">
                <a16:creationId xmlns:a16="http://schemas.microsoft.com/office/drawing/2014/main" id="{56E6E06F-C0DB-446A-B50F-F13B6C226F13}"/>
              </a:ext>
            </a:extLst>
          </p:cNvPr>
          <p:cNvSpPr>
            <a:spLocks noGrp="1"/>
          </p:cNvSpPr>
          <p:nvPr>
            <p:ph type="sldNum" sz="quarter" idx="12"/>
          </p:nvPr>
        </p:nvSpPr>
        <p:spPr/>
        <p:txBody>
          <a:bodyPr/>
          <a:lstStyle/>
          <a:p>
            <a:fld id="{F90830EF-8BC9-4C07-AF45-D6B295C125CD}" type="slidenum">
              <a:rPr lang="en-US" smtClean="0">
                <a:solidFill>
                  <a:sysClr val="windowText" lastClr="000000"/>
                </a:solidFill>
                <a:latin typeface="Times New Roman" panose="02020603050405020304" pitchFamily="18" charset="0"/>
                <a:cs typeface="Times New Roman" panose="02020603050405020304" pitchFamily="18" charset="0"/>
              </a:rPr>
              <a:pPr/>
              <a:t>6</a:t>
            </a:fld>
            <a:endParaRPr lang="en-US" dirty="0">
              <a:solidFill>
                <a:sysClr val="windowText" lastClr="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6745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 name="Table 1"/>
          <p:cNvGraphicFramePr/>
          <p:nvPr>
            <p:extLst>
              <p:ext uri="{D42A27DB-BD31-4B8C-83A1-F6EECF244321}">
                <p14:modId xmlns:p14="http://schemas.microsoft.com/office/powerpoint/2010/main" val="2365899432"/>
              </p:ext>
            </p:extLst>
          </p:nvPr>
        </p:nvGraphicFramePr>
        <p:xfrm>
          <a:off x="365759" y="1505243"/>
          <a:ext cx="8473441" cy="5030856"/>
        </p:xfrm>
        <a:graphic>
          <a:graphicData uri="http://schemas.openxmlformats.org/drawingml/2006/table">
            <a:tbl>
              <a:tblPr>
                <a:tableStyleId>{5940675A-B579-460E-94D1-54222C63F5DA}</a:tableStyleId>
              </a:tblPr>
              <a:tblGrid>
                <a:gridCol w="873728">
                  <a:extLst>
                    <a:ext uri="{9D8B030D-6E8A-4147-A177-3AD203B41FA5}">
                      <a16:colId xmlns:a16="http://schemas.microsoft.com/office/drawing/2014/main" val="20000"/>
                    </a:ext>
                  </a:extLst>
                </a:gridCol>
                <a:gridCol w="3101010">
                  <a:extLst>
                    <a:ext uri="{9D8B030D-6E8A-4147-A177-3AD203B41FA5}">
                      <a16:colId xmlns:a16="http://schemas.microsoft.com/office/drawing/2014/main" val="20001"/>
                    </a:ext>
                  </a:extLst>
                </a:gridCol>
                <a:gridCol w="1918694">
                  <a:extLst>
                    <a:ext uri="{9D8B030D-6E8A-4147-A177-3AD203B41FA5}">
                      <a16:colId xmlns:a16="http://schemas.microsoft.com/office/drawing/2014/main" val="20002"/>
                    </a:ext>
                  </a:extLst>
                </a:gridCol>
                <a:gridCol w="2580009">
                  <a:extLst>
                    <a:ext uri="{9D8B030D-6E8A-4147-A177-3AD203B41FA5}">
                      <a16:colId xmlns:a16="http://schemas.microsoft.com/office/drawing/2014/main" val="20003"/>
                    </a:ext>
                  </a:extLst>
                </a:gridCol>
              </a:tblGrid>
              <a:tr h="789354">
                <a:tc>
                  <a:txBody>
                    <a:bodyPr/>
                    <a:lstStyle/>
                    <a:p>
                      <a:pPr algn="ctr">
                        <a:lnSpc>
                          <a:spcPct val="100000"/>
                        </a:lnSpc>
                      </a:pPr>
                      <a:r>
                        <a:rPr lang="en-US" sz="1500" b="1" strike="noStrike" spc="-1" dirty="0">
                          <a:solidFill>
                            <a:srgbClr val="FF0000"/>
                          </a:solidFill>
                          <a:latin typeface="Times New Roman" panose="02020603050405020304" pitchFamily="18" charset="0"/>
                          <a:cs typeface="Times New Roman" panose="02020603050405020304" pitchFamily="18" charset="0"/>
                        </a:rPr>
                        <a:t>S. No</a:t>
                      </a:r>
                      <a:endParaRPr lang="en-IN" sz="1500" b="1" strike="noStrike" spc="-1" dirty="0">
                        <a:solidFill>
                          <a:srgbClr val="FF0000"/>
                        </a:solidFill>
                        <a:latin typeface="Times New Roman" panose="02020603050405020304" pitchFamily="18" charset="0"/>
                        <a:cs typeface="Times New Roman" panose="02020603050405020304" pitchFamily="18" charset="0"/>
                      </a:endParaRPr>
                    </a:p>
                  </a:txBody>
                  <a:tcPr marL="68580" marR="68580" marT="34290" marB="34290" anchor="ctr"/>
                </a:tc>
                <a:tc>
                  <a:txBody>
                    <a:bodyPr/>
                    <a:lstStyle/>
                    <a:p>
                      <a:pPr algn="ctr">
                        <a:lnSpc>
                          <a:spcPct val="100000"/>
                        </a:lnSpc>
                      </a:pPr>
                      <a:r>
                        <a:rPr lang="en-US" sz="1500" b="1" strike="noStrike" spc="-1" dirty="0">
                          <a:solidFill>
                            <a:srgbClr val="FF0000"/>
                          </a:solidFill>
                          <a:latin typeface="Times New Roman" panose="02020603050405020304" pitchFamily="18" charset="0"/>
                          <a:cs typeface="Times New Roman" panose="02020603050405020304" pitchFamily="18" charset="0"/>
                        </a:rPr>
                        <a:t>TITLE</a:t>
                      </a:r>
                      <a:endParaRPr lang="en-IN" sz="1500" b="1" strike="noStrike" spc="-1" dirty="0">
                        <a:solidFill>
                          <a:srgbClr val="FF0000"/>
                        </a:solidFill>
                        <a:latin typeface="Times New Roman" panose="02020603050405020304" pitchFamily="18" charset="0"/>
                        <a:cs typeface="Times New Roman" panose="02020603050405020304" pitchFamily="18" charset="0"/>
                      </a:endParaRPr>
                    </a:p>
                  </a:txBody>
                  <a:tcPr marL="68580" marR="68580" marT="34290" marB="34290" anchor="ctr"/>
                </a:tc>
                <a:tc>
                  <a:txBody>
                    <a:bodyPr/>
                    <a:lstStyle/>
                    <a:p>
                      <a:pPr algn="ctr">
                        <a:lnSpc>
                          <a:spcPct val="100000"/>
                        </a:lnSpc>
                      </a:pPr>
                      <a:r>
                        <a:rPr lang="en-US" sz="1500" b="1" strike="noStrike" spc="-1" dirty="0">
                          <a:solidFill>
                            <a:srgbClr val="FF0000"/>
                          </a:solidFill>
                          <a:latin typeface="Times New Roman" panose="02020603050405020304" pitchFamily="18" charset="0"/>
                          <a:cs typeface="Times New Roman" panose="02020603050405020304" pitchFamily="18" charset="0"/>
                        </a:rPr>
                        <a:t>AUTHOR(S)</a:t>
                      </a:r>
                      <a:endParaRPr lang="en-IN" sz="1500" b="1" strike="noStrike" spc="-1" dirty="0">
                        <a:solidFill>
                          <a:srgbClr val="FF0000"/>
                        </a:solidFill>
                        <a:latin typeface="Times New Roman" panose="02020603050405020304" pitchFamily="18" charset="0"/>
                        <a:cs typeface="Times New Roman" panose="02020603050405020304" pitchFamily="18" charset="0"/>
                      </a:endParaRPr>
                    </a:p>
                  </a:txBody>
                  <a:tcPr marL="68580" marR="68580" marT="34290" marB="34290" anchor="ctr"/>
                </a:tc>
                <a:tc>
                  <a:txBody>
                    <a:bodyPr/>
                    <a:lstStyle/>
                    <a:p>
                      <a:pPr algn="ctr">
                        <a:lnSpc>
                          <a:spcPct val="100000"/>
                        </a:lnSpc>
                      </a:pPr>
                      <a:r>
                        <a:rPr lang="en-US" sz="1500" b="1" strike="noStrike" spc="-1" dirty="0">
                          <a:solidFill>
                            <a:srgbClr val="FF0000"/>
                          </a:solidFill>
                          <a:latin typeface="Times New Roman" panose="02020603050405020304" pitchFamily="18" charset="0"/>
                          <a:cs typeface="Times New Roman" panose="02020603050405020304" pitchFamily="18" charset="0"/>
                        </a:rPr>
                        <a:t>REMARKS</a:t>
                      </a:r>
                      <a:endParaRPr lang="en-IN" sz="1500" b="1" strike="noStrike" spc="-1" dirty="0">
                        <a:solidFill>
                          <a:srgbClr val="FF0000"/>
                        </a:solidFill>
                        <a:latin typeface="Times New Roman" panose="02020603050405020304" pitchFamily="18" charset="0"/>
                        <a:cs typeface="Times New Roman" panose="02020603050405020304" pitchFamily="18" charset="0"/>
                      </a:endParaRPr>
                    </a:p>
                  </a:txBody>
                  <a:tcPr marL="68580" marR="68580" marT="34290" marB="34290" anchor="ctr"/>
                </a:tc>
                <a:extLst>
                  <a:ext uri="{0D108BD9-81ED-4DB2-BD59-A6C34878D82A}">
                    <a16:rowId xmlns:a16="http://schemas.microsoft.com/office/drawing/2014/main" val="10000"/>
                  </a:ext>
                </a:extLst>
              </a:tr>
              <a:tr h="1544022">
                <a:tc>
                  <a:txBody>
                    <a:bodyPr/>
                    <a:lstStyle/>
                    <a:p>
                      <a:pPr algn="ctr"/>
                      <a:r>
                        <a:rPr lang="en-IN" sz="1900" b="0" dirty="0">
                          <a:latin typeface="Times New Roman" panose="02020603050405020304" pitchFamily="18" charset="0"/>
                          <a:cs typeface="Times New Roman" panose="02020603050405020304" pitchFamily="18" charset="0"/>
                        </a:rPr>
                        <a:t>3.</a:t>
                      </a:r>
                    </a:p>
                  </a:txBody>
                  <a:tcPr anchor="ctr"/>
                </a:tc>
                <a:tc>
                  <a:txBody>
                    <a:bodyPr/>
                    <a:lstStyle/>
                    <a:p>
                      <a:pPr algn="l"/>
                      <a:r>
                        <a:rPr lang="en-US" sz="1900" b="0" kern="1200" dirty="0">
                          <a:solidFill>
                            <a:schemeClr val="tx1"/>
                          </a:solidFill>
                          <a:latin typeface="Times New Roman" pitchFamily="18" charset="0"/>
                          <a:ea typeface="+mn-ea"/>
                          <a:cs typeface="Times New Roman" pitchFamily="18" charset="0"/>
                        </a:rPr>
                        <a:t>A Survey on Garbage Collection and Monitoring System for smart cities using </a:t>
                      </a:r>
                      <a:r>
                        <a:rPr lang="en-US" sz="1900" b="0" kern="1200" dirty="0" err="1">
                          <a:solidFill>
                            <a:schemeClr val="tx1"/>
                          </a:solidFill>
                          <a:latin typeface="Times New Roman" pitchFamily="18" charset="0"/>
                          <a:ea typeface="+mn-ea"/>
                          <a:cs typeface="Times New Roman" pitchFamily="18" charset="0"/>
                        </a:rPr>
                        <a:t>IoT</a:t>
                      </a:r>
                      <a:endParaRPr lang="en-IN" sz="1900" b="0" dirty="0">
                        <a:latin typeface="Times New Roman" pitchFamily="18" charset="0"/>
                        <a:cs typeface="Times New Roman" pitchFamily="18" charset="0"/>
                      </a:endParaRPr>
                    </a:p>
                  </a:txBody>
                  <a:tcPr anchor="ctr"/>
                </a:tc>
                <a:tc>
                  <a:txBody>
                    <a:bodyPr/>
                    <a:lstStyle/>
                    <a:p>
                      <a:pPr algn="l"/>
                      <a:r>
                        <a:rPr lang="en-US" sz="1900" b="0" kern="1200" dirty="0" err="1">
                          <a:solidFill>
                            <a:schemeClr val="tx1"/>
                          </a:solidFill>
                          <a:latin typeface="Times New Roman" pitchFamily="18" charset="0"/>
                          <a:ea typeface="+mn-ea"/>
                          <a:cs typeface="Times New Roman" pitchFamily="18" charset="0"/>
                        </a:rPr>
                        <a:t>Neha</a:t>
                      </a:r>
                      <a:r>
                        <a:rPr lang="en-US" sz="1900" b="0" kern="1200" dirty="0">
                          <a:solidFill>
                            <a:schemeClr val="tx1"/>
                          </a:solidFill>
                          <a:latin typeface="Times New Roman" pitchFamily="18" charset="0"/>
                          <a:ea typeface="+mn-ea"/>
                          <a:cs typeface="Times New Roman" pitchFamily="18" charset="0"/>
                        </a:rPr>
                        <a:t> </a:t>
                      </a:r>
                      <a:r>
                        <a:rPr lang="en-US" sz="1900" b="0" kern="1200" dirty="0" err="1">
                          <a:solidFill>
                            <a:schemeClr val="tx1"/>
                          </a:solidFill>
                          <a:latin typeface="Times New Roman" pitchFamily="18" charset="0"/>
                          <a:ea typeface="+mn-ea"/>
                          <a:cs typeface="Times New Roman" pitchFamily="18" charset="0"/>
                        </a:rPr>
                        <a:t>shinde</a:t>
                      </a:r>
                      <a:r>
                        <a:rPr lang="en-US" sz="1900" b="0" kern="1200" dirty="0">
                          <a:solidFill>
                            <a:schemeClr val="tx1"/>
                          </a:solidFill>
                          <a:latin typeface="Times New Roman" pitchFamily="18" charset="0"/>
                          <a:ea typeface="+mn-ea"/>
                          <a:cs typeface="Times New Roman" pitchFamily="18" charset="0"/>
                        </a:rPr>
                        <a:t>, </a:t>
                      </a:r>
                      <a:r>
                        <a:rPr lang="en-US" sz="1900" b="0" kern="1200" dirty="0" err="1">
                          <a:solidFill>
                            <a:schemeClr val="tx1"/>
                          </a:solidFill>
                          <a:latin typeface="Times New Roman" pitchFamily="18" charset="0"/>
                          <a:ea typeface="+mn-ea"/>
                          <a:cs typeface="Times New Roman" pitchFamily="18" charset="0"/>
                        </a:rPr>
                        <a:t>Sayli</a:t>
                      </a:r>
                      <a:r>
                        <a:rPr lang="en-US" sz="1900" b="0" kern="1200" dirty="0">
                          <a:solidFill>
                            <a:schemeClr val="tx1"/>
                          </a:solidFill>
                          <a:latin typeface="Times New Roman" pitchFamily="18" charset="0"/>
                          <a:ea typeface="+mn-ea"/>
                          <a:cs typeface="Times New Roman" pitchFamily="18" charset="0"/>
                        </a:rPr>
                        <a:t> </a:t>
                      </a:r>
                      <a:r>
                        <a:rPr lang="en-US" sz="1900" b="0" kern="1200" dirty="0" err="1">
                          <a:solidFill>
                            <a:schemeClr val="tx1"/>
                          </a:solidFill>
                          <a:latin typeface="Times New Roman" pitchFamily="18" charset="0"/>
                          <a:ea typeface="+mn-ea"/>
                          <a:cs typeface="Times New Roman" pitchFamily="18" charset="0"/>
                        </a:rPr>
                        <a:t>Bhambre</a:t>
                      </a:r>
                      <a:r>
                        <a:rPr lang="en-US" sz="1900" b="0" kern="1200" dirty="0">
                          <a:solidFill>
                            <a:schemeClr val="tx1"/>
                          </a:solidFill>
                          <a:latin typeface="Times New Roman" pitchFamily="18" charset="0"/>
                          <a:ea typeface="+mn-ea"/>
                          <a:cs typeface="Times New Roman" pitchFamily="18" charset="0"/>
                        </a:rPr>
                        <a:t>, </a:t>
                      </a:r>
                      <a:r>
                        <a:rPr lang="en-US" sz="1900" b="0" kern="1200" dirty="0" err="1">
                          <a:solidFill>
                            <a:schemeClr val="tx1"/>
                          </a:solidFill>
                          <a:latin typeface="Times New Roman" pitchFamily="18" charset="0"/>
                          <a:ea typeface="+mn-ea"/>
                          <a:cs typeface="Times New Roman" pitchFamily="18" charset="0"/>
                        </a:rPr>
                        <a:t>Sharddha</a:t>
                      </a:r>
                      <a:r>
                        <a:rPr lang="en-US" sz="1900" b="0" kern="1200" dirty="0">
                          <a:solidFill>
                            <a:schemeClr val="tx1"/>
                          </a:solidFill>
                          <a:latin typeface="Times New Roman" pitchFamily="18" charset="0"/>
                          <a:ea typeface="+mn-ea"/>
                          <a:cs typeface="Times New Roman" pitchFamily="18" charset="0"/>
                        </a:rPr>
                        <a:t> </a:t>
                      </a:r>
                      <a:r>
                        <a:rPr lang="en-US" sz="1900" b="0" kern="1200" dirty="0" err="1">
                          <a:solidFill>
                            <a:schemeClr val="tx1"/>
                          </a:solidFill>
                          <a:latin typeface="Times New Roman" pitchFamily="18" charset="0"/>
                          <a:ea typeface="+mn-ea"/>
                          <a:cs typeface="Times New Roman" pitchFamily="18" charset="0"/>
                        </a:rPr>
                        <a:t>Thakur</a:t>
                      </a:r>
                      <a:r>
                        <a:rPr lang="en-US" sz="1900" b="0" kern="1200" dirty="0">
                          <a:solidFill>
                            <a:schemeClr val="tx1"/>
                          </a:solidFill>
                          <a:latin typeface="Times New Roman" pitchFamily="18" charset="0"/>
                          <a:ea typeface="+mn-ea"/>
                          <a:cs typeface="Times New Roman" pitchFamily="18" charset="0"/>
                        </a:rPr>
                        <a:t>, and </a:t>
                      </a:r>
                      <a:r>
                        <a:rPr lang="en-US" sz="1900" b="0" kern="1200" dirty="0" err="1">
                          <a:solidFill>
                            <a:schemeClr val="tx1"/>
                          </a:solidFill>
                          <a:latin typeface="Times New Roman" pitchFamily="18" charset="0"/>
                          <a:ea typeface="+mn-ea"/>
                          <a:cs typeface="Times New Roman" pitchFamily="18" charset="0"/>
                        </a:rPr>
                        <a:t>Varsha</a:t>
                      </a:r>
                      <a:r>
                        <a:rPr lang="en-US" sz="1900" b="0" kern="1200" dirty="0">
                          <a:solidFill>
                            <a:schemeClr val="tx1"/>
                          </a:solidFill>
                          <a:latin typeface="Times New Roman" pitchFamily="18" charset="0"/>
                          <a:ea typeface="+mn-ea"/>
                          <a:cs typeface="Times New Roman" pitchFamily="18" charset="0"/>
                        </a:rPr>
                        <a:t> </a:t>
                      </a:r>
                      <a:r>
                        <a:rPr lang="en-US" sz="1900" b="0" kern="1200" dirty="0" err="1">
                          <a:solidFill>
                            <a:schemeClr val="tx1"/>
                          </a:solidFill>
                          <a:latin typeface="Times New Roman" pitchFamily="18" charset="0"/>
                          <a:ea typeface="+mn-ea"/>
                          <a:cs typeface="Times New Roman" pitchFamily="18" charset="0"/>
                        </a:rPr>
                        <a:t>Devkule</a:t>
                      </a:r>
                      <a:r>
                        <a:rPr lang="en-US" sz="1900" b="0" kern="1200" dirty="0">
                          <a:solidFill>
                            <a:schemeClr val="tx1"/>
                          </a:solidFill>
                          <a:latin typeface="Times New Roman" pitchFamily="18" charset="0"/>
                          <a:ea typeface="+mn-ea"/>
                          <a:cs typeface="Times New Roman" pitchFamily="18" charset="0"/>
                        </a:rPr>
                        <a:t> (2018) </a:t>
                      </a:r>
                      <a:endParaRPr lang="en-IN" sz="1900" b="0" dirty="0">
                        <a:latin typeface="Times New Roman" pitchFamily="18" charset="0"/>
                        <a:cs typeface="Times New Roman" pitchFamily="18" charset="0"/>
                      </a:endParaRPr>
                    </a:p>
                  </a:txBody>
                  <a:tcPr anchor="ctr"/>
                </a:tc>
                <a:tc>
                  <a:txBody>
                    <a:bodyPr/>
                    <a:lstStyle/>
                    <a:p>
                      <a:pPr lvl="0" algn="just">
                        <a:buFont typeface="Wingdings" panose="05000000000000000000" pitchFamily="2" charset="2"/>
                        <a:buNone/>
                      </a:pPr>
                      <a:r>
                        <a:rPr lang="en-US" sz="2000" dirty="0">
                          <a:latin typeface="Times New Roman" panose="02020603050405020304" pitchFamily="18" charset="0"/>
                          <a:cs typeface="Times New Roman" panose="02020603050405020304" pitchFamily="18" charset="0"/>
                        </a:rPr>
                        <a:t>Computational cost is high.</a:t>
                      </a:r>
                    </a:p>
                  </a:txBody>
                  <a:tcPr anchor="ctr"/>
                </a:tc>
                <a:extLst>
                  <a:ext uri="{0D108BD9-81ED-4DB2-BD59-A6C34878D82A}">
                    <a16:rowId xmlns:a16="http://schemas.microsoft.com/office/drawing/2014/main" val="10002"/>
                  </a:ext>
                </a:extLst>
              </a:tr>
              <a:tr h="1544022">
                <a:tc>
                  <a:txBody>
                    <a:bodyPr/>
                    <a:lstStyle/>
                    <a:p>
                      <a:pPr algn="ctr"/>
                      <a:r>
                        <a:rPr lang="en-US" sz="1900" b="0" dirty="0">
                          <a:latin typeface="Times New Roman" panose="02020603050405020304" pitchFamily="18" charset="0"/>
                          <a:cs typeface="Times New Roman" panose="02020603050405020304" pitchFamily="18" charset="0"/>
                        </a:rPr>
                        <a:t>4.</a:t>
                      </a:r>
                      <a:endParaRPr lang="en-IN" sz="1900" b="0" dirty="0">
                        <a:latin typeface="Times New Roman" panose="02020603050405020304" pitchFamily="18" charset="0"/>
                        <a:cs typeface="Times New Roman" panose="02020603050405020304" pitchFamily="18" charset="0"/>
                      </a:endParaRPr>
                    </a:p>
                  </a:txBody>
                  <a:tcPr anchor="ctr"/>
                </a:tc>
                <a:tc>
                  <a:txBody>
                    <a:bodyPr/>
                    <a:lstStyle/>
                    <a:p>
                      <a:pPr algn="l"/>
                      <a:r>
                        <a:rPr lang="en-US" sz="1900" b="0" kern="1200" dirty="0">
                          <a:solidFill>
                            <a:schemeClr val="tx1"/>
                          </a:solidFill>
                          <a:latin typeface="Times New Roman" pitchFamily="18" charset="0"/>
                          <a:ea typeface="+mn-ea"/>
                          <a:cs typeface="Times New Roman" pitchFamily="18" charset="0"/>
                        </a:rPr>
                        <a:t>A Review on smart garbage dustbin</a:t>
                      </a:r>
                      <a:endParaRPr lang="en-IN" sz="1900" b="0" dirty="0">
                        <a:latin typeface="Times New Roman" pitchFamily="18" charset="0"/>
                        <a:cs typeface="Times New Roman" pitchFamily="18" charset="0"/>
                      </a:endParaRPr>
                    </a:p>
                  </a:txBody>
                  <a:tcPr anchor="ctr"/>
                </a:tc>
                <a:tc>
                  <a:txBody>
                    <a:bodyPr/>
                    <a:lstStyle/>
                    <a:p>
                      <a:pPr algn="l"/>
                      <a:r>
                        <a:rPr lang="en-US" sz="1900" b="0" kern="1200" dirty="0" err="1">
                          <a:solidFill>
                            <a:schemeClr val="tx1"/>
                          </a:solidFill>
                          <a:latin typeface="Times New Roman" pitchFamily="18" charset="0"/>
                          <a:ea typeface="+mn-ea"/>
                          <a:cs typeface="Times New Roman" pitchFamily="18" charset="0"/>
                        </a:rPr>
                        <a:t>Shephali</a:t>
                      </a:r>
                      <a:r>
                        <a:rPr lang="en-US" sz="1900" b="0" kern="1200" dirty="0">
                          <a:solidFill>
                            <a:schemeClr val="tx1"/>
                          </a:solidFill>
                          <a:latin typeface="Times New Roman" pitchFamily="18" charset="0"/>
                          <a:ea typeface="+mn-ea"/>
                          <a:cs typeface="Times New Roman" pitchFamily="18" charset="0"/>
                        </a:rPr>
                        <a:t> </a:t>
                      </a:r>
                      <a:r>
                        <a:rPr lang="en-US" sz="1900" b="0" kern="1200" dirty="0" err="1">
                          <a:solidFill>
                            <a:schemeClr val="tx1"/>
                          </a:solidFill>
                          <a:latin typeface="Times New Roman" pitchFamily="18" charset="0"/>
                          <a:ea typeface="+mn-ea"/>
                          <a:cs typeface="Times New Roman" pitchFamily="18" charset="0"/>
                        </a:rPr>
                        <a:t>Rakhunde</a:t>
                      </a:r>
                      <a:r>
                        <a:rPr lang="en-US" sz="1900" b="0" kern="1200" dirty="0">
                          <a:solidFill>
                            <a:schemeClr val="tx1"/>
                          </a:solidFill>
                          <a:latin typeface="Times New Roman" pitchFamily="18" charset="0"/>
                          <a:ea typeface="+mn-ea"/>
                          <a:cs typeface="Times New Roman" pitchFamily="18" charset="0"/>
                        </a:rPr>
                        <a:t>, </a:t>
                      </a:r>
                      <a:r>
                        <a:rPr lang="en-US" sz="1900" b="0" kern="1200" dirty="0" err="1">
                          <a:solidFill>
                            <a:schemeClr val="tx1"/>
                          </a:solidFill>
                          <a:latin typeface="Times New Roman" pitchFamily="18" charset="0"/>
                          <a:ea typeface="+mn-ea"/>
                          <a:cs typeface="Times New Roman" pitchFamily="18" charset="0"/>
                        </a:rPr>
                        <a:t>Shreya</a:t>
                      </a:r>
                      <a:r>
                        <a:rPr lang="en-US" sz="1900" b="0" kern="1200" dirty="0">
                          <a:solidFill>
                            <a:schemeClr val="tx1"/>
                          </a:solidFill>
                          <a:latin typeface="Times New Roman" pitchFamily="18" charset="0"/>
                          <a:ea typeface="+mn-ea"/>
                          <a:cs typeface="Times New Roman" pitchFamily="18" charset="0"/>
                        </a:rPr>
                        <a:t> </a:t>
                      </a:r>
                      <a:r>
                        <a:rPr lang="en-US" sz="1900" b="0" kern="1200" dirty="0" err="1">
                          <a:solidFill>
                            <a:schemeClr val="tx1"/>
                          </a:solidFill>
                          <a:latin typeface="Times New Roman" pitchFamily="18" charset="0"/>
                          <a:ea typeface="+mn-ea"/>
                          <a:cs typeface="Times New Roman" pitchFamily="18" charset="0"/>
                        </a:rPr>
                        <a:t>Ghavghave</a:t>
                      </a:r>
                      <a:r>
                        <a:rPr lang="en-US" sz="1900" b="0" kern="1200" dirty="0">
                          <a:solidFill>
                            <a:schemeClr val="tx1"/>
                          </a:solidFill>
                          <a:latin typeface="Times New Roman" pitchFamily="18" charset="0"/>
                          <a:ea typeface="+mn-ea"/>
                          <a:cs typeface="Times New Roman" pitchFamily="18" charset="0"/>
                        </a:rPr>
                        <a:t>, </a:t>
                      </a:r>
                      <a:r>
                        <a:rPr lang="en-US" sz="1900" b="0" kern="1200" dirty="0" err="1">
                          <a:solidFill>
                            <a:schemeClr val="tx1"/>
                          </a:solidFill>
                          <a:latin typeface="Times New Roman" pitchFamily="18" charset="0"/>
                          <a:ea typeface="+mn-ea"/>
                          <a:cs typeface="Times New Roman" pitchFamily="18" charset="0"/>
                        </a:rPr>
                        <a:t>Shraddha</a:t>
                      </a:r>
                      <a:r>
                        <a:rPr lang="en-US" sz="1900" b="0" kern="1200" dirty="0">
                          <a:solidFill>
                            <a:schemeClr val="tx1"/>
                          </a:solidFill>
                          <a:latin typeface="Times New Roman" pitchFamily="18" charset="0"/>
                          <a:ea typeface="+mn-ea"/>
                          <a:cs typeface="Times New Roman" pitchFamily="18" charset="0"/>
                        </a:rPr>
                        <a:t> </a:t>
                      </a:r>
                      <a:r>
                        <a:rPr lang="en-US" sz="1900" b="0" kern="1200" dirty="0" err="1">
                          <a:solidFill>
                            <a:schemeClr val="tx1"/>
                          </a:solidFill>
                          <a:latin typeface="Times New Roman" pitchFamily="18" charset="0"/>
                          <a:ea typeface="+mn-ea"/>
                          <a:cs typeface="Times New Roman" pitchFamily="18" charset="0"/>
                        </a:rPr>
                        <a:t>Jagtap</a:t>
                      </a:r>
                      <a:r>
                        <a:rPr lang="en-US" sz="1900" b="0" kern="1200" dirty="0">
                          <a:solidFill>
                            <a:schemeClr val="tx1"/>
                          </a:solidFill>
                          <a:latin typeface="Times New Roman" pitchFamily="18" charset="0"/>
                          <a:ea typeface="+mn-ea"/>
                          <a:cs typeface="Times New Roman" pitchFamily="18" charset="0"/>
                        </a:rPr>
                        <a:t>, </a:t>
                      </a:r>
                      <a:r>
                        <a:rPr lang="en-US" sz="1900" b="0" kern="1200" dirty="0" err="1">
                          <a:solidFill>
                            <a:schemeClr val="tx1"/>
                          </a:solidFill>
                          <a:latin typeface="Times New Roman" pitchFamily="18" charset="0"/>
                          <a:ea typeface="+mn-ea"/>
                          <a:cs typeface="Times New Roman" pitchFamily="18" charset="0"/>
                        </a:rPr>
                        <a:t>Priyanka</a:t>
                      </a:r>
                      <a:r>
                        <a:rPr lang="en-US" sz="1900" b="0" kern="1200" dirty="0">
                          <a:solidFill>
                            <a:schemeClr val="tx1"/>
                          </a:solidFill>
                          <a:latin typeface="Times New Roman" pitchFamily="18" charset="0"/>
                          <a:ea typeface="+mn-ea"/>
                          <a:cs typeface="Times New Roman" pitchFamily="18" charset="0"/>
                        </a:rPr>
                        <a:t> </a:t>
                      </a:r>
                      <a:r>
                        <a:rPr lang="en-US" sz="1900" b="0" kern="1200" dirty="0" err="1">
                          <a:solidFill>
                            <a:schemeClr val="tx1"/>
                          </a:solidFill>
                          <a:latin typeface="Times New Roman" pitchFamily="18" charset="0"/>
                          <a:ea typeface="+mn-ea"/>
                          <a:cs typeface="Times New Roman" pitchFamily="18" charset="0"/>
                        </a:rPr>
                        <a:t>Chimegaokar</a:t>
                      </a:r>
                      <a:r>
                        <a:rPr lang="en-US" sz="1900" b="0" kern="1200" dirty="0">
                          <a:solidFill>
                            <a:schemeClr val="tx1"/>
                          </a:solidFill>
                          <a:latin typeface="Times New Roman" pitchFamily="18" charset="0"/>
                          <a:ea typeface="+mn-ea"/>
                          <a:cs typeface="Times New Roman" pitchFamily="18" charset="0"/>
                        </a:rPr>
                        <a:t>, and </a:t>
                      </a:r>
                      <a:r>
                        <a:rPr lang="en-US" sz="1900" b="0" kern="1200" dirty="0" err="1">
                          <a:solidFill>
                            <a:schemeClr val="tx1"/>
                          </a:solidFill>
                          <a:latin typeface="Times New Roman" pitchFamily="18" charset="0"/>
                          <a:ea typeface="+mn-ea"/>
                          <a:cs typeface="Times New Roman" pitchFamily="18" charset="0"/>
                        </a:rPr>
                        <a:t>J.Y.Hande</a:t>
                      </a:r>
                      <a:r>
                        <a:rPr lang="en-US" sz="1900" b="0" kern="1200" dirty="0">
                          <a:solidFill>
                            <a:schemeClr val="tx1"/>
                          </a:solidFill>
                          <a:latin typeface="Times New Roman" pitchFamily="18" charset="0"/>
                          <a:ea typeface="+mn-ea"/>
                          <a:cs typeface="Times New Roman" pitchFamily="18" charset="0"/>
                        </a:rPr>
                        <a:t> (2019)</a:t>
                      </a:r>
                      <a:endParaRPr lang="en-IN" sz="1900" b="0" dirty="0">
                        <a:latin typeface="Times New Roman" pitchFamily="18" charset="0"/>
                        <a:cs typeface="Times New Roman" pitchFamily="18" charset="0"/>
                      </a:endParaRPr>
                    </a:p>
                  </a:txBody>
                  <a:tcPr anchor="ctr"/>
                </a:tc>
                <a:tc>
                  <a:txBody>
                    <a:bodyPr/>
                    <a:lstStyle/>
                    <a:p>
                      <a:pPr algn="l"/>
                      <a:r>
                        <a:rPr lang="en-US" sz="1900" dirty="0">
                          <a:latin typeface="Times New Roman" pitchFamily="18" charset="0"/>
                          <a:cs typeface="Times New Roman" pitchFamily="18" charset="0"/>
                        </a:rPr>
                        <a:t>Only detects the top of the garbage level.</a:t>
                      </a:r>
                      <a:endParaRPr lang="en-IN" sz="1900" dirty="0">
                        <a:latin typeface="Times New Roman" pitchFamily="18" charset="0"/>
                        <a:cs typeface="Times New Roman" pitchFamily="18" charset="0"/>
                      </a:endParaRPr>
                    </a:p>
                  </a:txBody>
                  <a:tcPr anchor="ctr"/>
                </a:tc>
                <a:extLst>
                  <a:ext uri="{0D108BD9-81ED-4DB2-BD59-A6C34878D82A}">
                    <a16:rowId xmlns:a16="http://schemas.microsoft.com/office/drawing/2014/main" val="3569569729"/>
                  </a:ext>
                </a:extLst>
              </a:tr>
            </a:tbl>
          </a:graphicData>
        </a:graphic>
      </p:graphicFrame>
      <p:sp>
        <p:nvSpPr>
          <p:cNvPr id="103" name="TextShape 2"/>
          <p:cNvSpPr txBox="1"/>
          <p:nvPr/>
        </p:nvSpPr>
        <p:spPr>
          <a:xfrm>
            <a:off x="457335" y="609600"/>
            <a:ext cx="8229330" cy="537300"/>
          </a:xfrm>
          <a:prstGeom prst="rect">
            <a:avLst/>
          </a:prstGeom>
          <a:noFill/>
          <a:ln>
            <a:noFill/>
          </a:ln>
        </p:spPr>
        <p:txBody>
          <a:bodyPr lIns="67500" tIns="33750" rIns="67500" bIns="33750" anchor="ctr">
            <a:noAutofit/>
          </a:bodyPr>
          <a:lstStyle/>
          <a:p>
            <a:pPr algn="ctr">
              <a:lnSpc>
                <a:spcPct val="100000"/>
              </a:lnSpc>
            </a:pPr>
            <a:r>
              <a:rPr lang="en-US" sz="3200" b="1" spc="-1" dirty="0">
                <a:solidFill>
                  <a:srgbClr val="FF0000"/>
                </a:solidFill>
                <a:effectLst>
                  <a:outerShdw blurRad="38100" dist="38100" dir="2700000" algn="tl">
                    <a:srgbClr val="000000">
                      <a:alpha val="43137"/>
                    </a:srgbClr>
                  </a:outerShdw>
                </a:effectLst>
                <a:latin typeface="Times New Roman"/>
              </a:rPr>
              <a:t>LITERATURE REVIEW</a:t>
            </a:r>
            <a:endParaRPr lang="en-US" sz="3200" spc="-1" dirty="0">
              <a:solidFill>
                <a:srgbClr val="FF0000"/>
              </a:solidFill>
              <a:effectLst>
                <a:outerShdw blurRad="38100" dist="38100" dir="2700000" algn="tl">
                  <a:srgbClr val="000000">
                    <a:alpha val="43137"/>
                  </a:srgbClr>
                </a:outerShdw>
              </a:effectLst>
              <a:latin typeface="Lucida Sans Unicode"/>
            </a:endParaRPr>
          </a:p>
        </p:txBody>
      </p:sp>
      <p:sp>
        <p:nvSpPr>
          <p:cNvPr id="3" name="Slide Number Placeholder 2">
            <a:extLst>
              <a:ext uri="{FF2B5EF4-FFF2-40B4-BE49-F238E27FC236}">
                <a16:creationId xmlns:a16="http://schemas.microsoft.com/office/drawing/2014/main" id="{67D85936-6FD3-4B93-8FD1-A5AD0825AF58}"/>
              </a:ext>
            </a:extLst>
          </p:cNvPr>
          <p:cNvSpPr>
            <a:spLocks noGrp="1"/>
          </p:cNvSpPr>
          <p:nvPr>
            <p:ph type="sldNum" sz="quarter" idx="12"/>
          </p:nvPr>
        </p:nvSpPr>
        <p:spPr/>
        <p:txBody>
          <a:bodyPr/>
          <a:lstStyle/>
          <a:p>
            <a:fld id="{F90830EF-8BC9-4C07-AF45-D6B295C125CD}" type="slidenum">
              <a:rPr lang="en-US" smtClean="0">
                <a:solidFill>
                  <a:sysClr val="windowText" lastClr="000000"/>
                </a:solidFill>
                <a:latin typeface="Times New Roman" panose="02020603050405020304" pitchFamily="18" charset="0"/>
                <a:cs typeface="Times New Roman" panose="02020603050405020304" pitchFamily="18" charset="0"/>
              </a:rPr>
              <a:pPr/>
              <a:t>7</a:t>
            </a:fld>
            <a:endParaRPr lang="en-US" dirty="0">
              <a:solidFill>
                <a:sysClr val="windowText" lastClr="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0964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AAE34A-49A4-41DC-9A5D-C5913C8AE6DF}"/>
              </a:ext>
            </a:extLst>
          </p:cNvPr>
          <p:cNvSpPr>
            <a:spLocks noGrp="1"/>
          </p:cNvSpPr>
          <p:nvPr>
            <p:ph idx="1"/>
          </p:nvPr>
        </p:nvSpPr>
        <p:spPr/>
        <p:txBody>
          <a:bodyPr>
            <a:normAutofit/>
          </a:bodyPr>
          <a:lstStyle/>
          <a:p>
            <a:pPr marL="0" indent="0" algn="just">
              <a:spcBef>
                <a:spcPts val="0"/>
              </a:spcBef>
              <a:buFont typeface="Wingdings" pitchFamily="2" charset="2"/>
              <a:buChar char="Ø"/>
              <a:defRPr/>
            </a:pPr>
            <a:r>
              <a:rPr lang="en-IN" sz="2400" dirty="0">
                <a:latin typeface="Times New Roman" panose="02020603050405020304" pitchFamily="18" charset="0"/>
                <a:cs typeface="Times New Roman" panose="02020603050405020304" pitchFamily="18" charset="0"/>
              </a:rPr>
              <a:t>The measuring  distance is not accurate.</a:t>
            </a:r>
          </a:p>
          <a:p>
            <a:pPr marL="0" indent="0" algn="just">
              <a:spcBef>
                <a:spcPts val="0"/>
              </a:spcBef>
              <a:buNone/>
              <a:defRPr/>
            </a:pPr>
            <a:endParaRPr lang="en-US" sz="240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More  sensors is  used so it need more maintenance. </a:t>
            </a:r>
          </a:p>
          <a:p>
            <a:pPr lvl="0" algn="just">
              <a:buNone/>
            </a:pPr>
            <a:endParaRPr lang="en-US" sz="240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Computational cost is high.</a:t>
            </a:r>
          </a:p>
          <a:p>
            <a:pPr lvl="0" algn="just">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a:buFont typeface="Wingdings" pitchFamily="2" charset="2"/>
              <a:buChar char="Ø"/>
            </a:pPr>
            <a:r>
              <a:rPr lang="en-US" sz="2400" dirty="0">
                <a:latin typeface="Times New Roman" pitchFamily="18" charset="0"/>
                <a:cs typeface="Times New Roman" pitchFamily="18" charset="0"/>
              </a:rPr>
              <a:t>Only detects the top of the garbage level.</a:t>
            </a:r>
            <a:endParaRPr lang="en-IN" sz="2400" dirty="0">
              <a:latin typeface="Times New Roman" pitchFamily="18" charset="0"/>
              <a:cs typeface="Times New Roman" pitchFamily="18" charset="0"/>
            </a:endParaRPr>
          </a:p>
          <a:p>
            <a:pPr algn="just"/>
            <a:endParaRPr lang="en-IN" sz="2400" dirty="0"/>
          </a:p>
          <a:p>
            <a:pPr algn="just">
              <a:lnSpc>
                <a:spcPct val="150000"/>
              </a:lnSpc>
            </a:pPr>
            <a:endParaRPr lang="en-US" sz="2400" dirty="0">
              <a:latin typeface="Times New Roman" pitchFamily="18" charset="0"/>
              <a:cs typeface="Times New Roman" pitchFamily="18" charset="0"/>
            </a:endParaRPr>
          </a:p>
          <a:p>
            <a:pPr marL="0" indent="0">
              <a:buNone/>
            </a:pPr>
            <a:endParaRPr lang="en-IN" sz="2400" dirty="0"/>
          </a:p>
        </p:txBody>
      </p:sp>
      <p:sp>
        <p:nvSpPr>
          <p:cNvPr id="4" name="TextShape 2">
            <a:extLst>
              <a:ext uri="{FF2B5EF4-FFF2-40B4-BE49-F238E27FC236}">
                <a16:creationId xmlns:a16="http://schemas.microsoft.com/office/drawing/2014/main" id="{8D787937-AA05-4DD2-AC59-F5FA25A6718D}"/>
              </a:ext>
            </a:extLst>
          </p:cNvPr>
          <p:cNvSpPr txBox="1"/>
          <p:nvPr/>
        </p:nvSpPr>
        <p:spPr>
          <a:xfrm>
            <a:off x="457335" y="609600"/>
            <a:ext cx="8229330" cy="537300"/>
          </a:xfrm>
          <a:prstGeom prst="rect">
            <a:avLst/>
          </a:prstGeom>
          <a:noFill/>
          <a:ln>
            <a:noFill/>
          </a:ln>
        </p:spPr>
        <p:txBody>
          <a:bodyPr lIns="67500" tIns="33750" rIns="67500" bIns="33750" anchor="ctr">
            <a:noAutofit/>
          </a:bodyPr>
          <a:lstStyle/>
          <a:p>
            <a:pPr algn="ctr">
              <a:lnSpc>
                <a:spcPct val="100000"/>
              </a:lnSpc>
            </a:pPr>
            <a:r>
              <a:rPr lang="en-US" sz="3200" b="1" spc="-1" dirty="0">
                <a:solidFill>
                  <a:srgbClr val="FF0000"/>
                </a:solidFill>
                <a:effectLst>
                  <a:outerShdw blurRad="38100" dist="38100" dir="2700000" algn="tl">
                    <a:srgbClr val="000000">
                      <a:alpha val="43137"/>
                    </a:srgbClr>
                  </a:outerShdw>
                </a:effectLst>
                <a:latin typeface="Times New Roman"/>
              </a:rPr>
              <a:t>LITERATURE REVIEW SUMMARY</a:t>
            </a:r>
            <a:endParaRPr lang="en-US" sz="3200" spc="-1" dirty="0">
              <a:solidFill>
                <a:srgbClr val="FF0000"/>
              </a:solidFill>
              <a:effectLst>
                <a:outerShdw blurRad="38100" dist="38100" dir="2700000" algn="tl">
                  <a:srgbClr val="000000">
                    <a:alpha val="43137"/>
                  </a:srgbClr>
                </a:outerShdw>
              </a:effectLst>
              <a:latin typeface="Lucida Sans Unicode"/>
            </a:endParaRPr>
          </a:p>
        </p:txBody>
      </p:sp>
      <p:sp>
        <p:nvSpPr>
          <p:cNvPr id="5" name="Slide Number Placeholder 4">
            <a:extLst>
              <a:ext uri="{FF2B5EF4-FFF2-40B4-BE49-F238E27FC236}">
                <a16:creationId xmlns:a16="http://schemas.microsoft.com/office/drawing/2014/main" id="{E811E3A4-A8F7-432E-965A-9D6ED8ADDADD}"/>
              </a:ext>
            </a:extLst>
          </p:cNvPr>
          <p:cNvSpPr>
            <a:spLocks noGrp="1"/>
          </p:cNvSpPr>
          <p:nvPr>
            <p:ph type="sldNum" sz="quarter" idx="12"/>
          </p:nvPr>
        </p:nvSpPr>
        <p:spPr/>
        <p:txBody>
          <a:bodyPr/>
          <a:lstStyle/>
          <a:p>
            <a:fld id="{F90830EF-8BC9-4C07-AF45-D6B295C125CD}" type="slidenum">
              <a:rPr lang="en-US" smtClean="0">
                <a:solidFill>
                  <a:sysClr val="windowText" lastClr="000000"/>
                </a:solidFill>
                <a:latin typeface="Times New Roman" panose="02020603050405020304" pitchFamily="18" charset="0"/>
                <a:cs typeface="Times New Roman" panose="02020603050405020304" pitchFamily="18" charset="0"/>
              </a:rPr>
              <a:pPr/>
              <a:t>8</a:t>
            </a:fld>
            <a:endParaRPr lang="en-US" dirty="0">
              <a:solidFill>
                <a:sysClr val="windowText" lastClr="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3348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EXISTING SYSTEM</a:t>
            </a:r>
          </a:p>
        </p:txBody>
      </p:sp>
      <p:sp>
        <p:nvSpPr>
          <p:cNvPr id="3" name="Content Placeholder 2"/>
          <p:cNvSpPr>
            <a:spLocks noGrp="1"/>
          </p:cNvSpPr>
          <p:nvPr>
            <p:ph idx="1"/>
          </p:nvPr>
        </p:nvSpPr>
        <p:spPr/>
        <p:txBody>
          <a:bodyPr>
            <a:normAutofit/>
          </a:bodyPr>
          <a:lstStyle/>
          <a:p>
            <a:pPr>
              <a:buFont typeface="Wingdings" pitchFamily="2" charset="2"/>
              <a:buChar char="Ø"/>
            </a:pPr>
            <a:r>
              <a:rPr lang="en-US" sz="2400" dirty="0">
                <a:latin typeface="Times New Roman" pitchFamily="18" charset="0"/>
                <a:cs typeface="Times New Roman" pitchFamily="18" charset="0"/>
              </a:rPr>
              <a:t>The existing system has the limitations as time consuming, trucks go and empty the containers, even they are empty.</a:t>
            </a:r>
          </a:p>
          <a:p>
            <a:pPr lvl="0">
              <a:buFont typeface="Wingdings" pitchFamily="2" charset="2"/>
              <a:buChar char="Ø"/>
            </a:pPr>
            <a:endParaRPr lang="en-US" sz="2400" dirty="0">
              <a:latin typeface="Times New Roman" pitchFamily="18" charset="0"/>
              <a:cs typeface="Times New Roman" pitchFamily="18" charset="0"/>
            </a:endParaRPr>
          </a:p>
          <a:p>
            <a:pPr lvl="0">
              <a:buFont typeface="Wingdings" pitchFamily="2" charset="2"/>
              <a:buChar char="Ø"/>
            </a:pPr>
            <a:r>
              <a:rPr lang="en-US" sz="2400" dirty="0">
                <a:latin typeface="Times New Roman" pitchFamily="18" charset="0"/>
                <a:cs typeface="Times New Roman" pitchFamily="18" charset="0"/>
              </a:rPr>
              <a:t>The cost is high with unhygienic environment. Even the bad </a:t>
            </a:r>
            <a:r>
              <a:rPr lang="en-US" sz="2400" dirty="0" err="1">
                <a:latin typeface="Times New Roman" pitchFamily="18" charset="0"/>
                <a:cs typeface="Times New Roman" pitchFamily="18" charset="0"/>
              </a:rPr>
              <a:t>odour</a:t>
            </a:r>
            <a:r>
              <a:rPr lang="en-US" sz="2400" dirty="0">
                <a:latin typeface="Times New Roman" pitchFamily="18" charset="0"/>
                <a:cs typeface="Times New Roman" pitchFamily="18" charset="0"/>
              </a:rPr>
              <a:t>  causes the unhealthy environment.</a:t>
            </a:r>
          </a:p>
          <a:p>
            <a:pPr lvl="0" algn="just">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a:p>
            <a:pPr lvl="0" algn="just">
              <a:buFont typeface="Wingdings" panose="05000000000000000000" pitchFamily="2" charset="2"/>
              <a:buChar char="Ø"/>
            </a:pPr>
            <a:r>
              <a:rPr lang="en-US" sz="2400" dirty="0">
                <a:latin typeface="Times New Roman" pitchFamily="18" charset="0"/>
                <a:cs typeface="Times New Roman" pitchFamily="18" charset="0"/>
              </a:rPr>
              <a:t>These systems use automation technique reduces human efforts</a:t>
            </a:r>
            <a:r>
              <a:rPr lang="en-US" sz="2400" dirty="0"/>
              <a:t>.</a:t>
            </a:r>
            <a:endParaRPr lang="en-US" sz="2400" dirty="0">
              <a:latin typeface="Times New Roman" panose="02020603050405020304" pitchFamily="18" charset="0"/>
              <a:cs typeface="Times New Roman" panose="02020603050405020304" pitchFamily="18" charset="0"/>
            </a:endParaRPr>
          </a:p>
          <a:p>
            <a:pPr lvl="0" algn="just">
              <a:buNone/>
            </a:pPr>
            <a:endParaRPr lang="en-US" sz="2400" dirty="0">
              <a:latin typeface="Times New Roman" panose="02020603050405020304" pitchFamily="18" charset="0"/>
              <a:cs typeface="Times New Roman" panose="02020603050405020304" pitchFamily="18" charset="0"/>
            </a:endParaRPr>
          </a:p>
          <a:p>
            <a:pPr>
              <a:buFont typeface="Wingdings" pitchFamily="2" charset="2"/>
              <a:buChar char="Ø"/>
            </a:pPr>
            <a:r>
              <a:rPr lang="en-US" sz="2400" dirty="0">
                <a:latin typeface="Times New Roman" pitchFamily="18" charset="0"/>
                <a:cs typeface="Times New Roman" pitchFamily="18" charset="0"/>
              </a:rPr>
              <a:t>GSM module sends message to the authorized person.</a:t>
            </a:r>
          </a:p>
          <a:p>
            <a:pPr>
              <a:buFont typeface="Wingdings" panose="05000000000000000000" pitchFamily="2" charset="2"/>
              <a:buChar char="§"/>
            </a:pPr>
            <a:endParaRPr lang="en-IN" sz="2400" dirty="0"/>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61CBD0C2-756D-4A19-9CB9-EA2A9AF073C3}"/>
              </a:ext>
            </a:extLst>
          </p:cNvPr>
          <p:cNvSpPr>
            <a:spLocks noGrp="1"/>
          </p:cNvSpPr>
          <p:nvPr>
            <p:ph type="sldNum" sz="quarter" idx="12"/>
          </p:nvPr>
        </p:nvSpPr>
        <p:spPr>
          <a:xfrm>
            <a:off x="6553200" y="6329507"/>
            <a:ext cx="2133600" cy="365125"/>
          </a:xfrm>
        </p:spPr>
        <p:txBody>
          <a:bodyPr/>
          <a:lstStyle/>
          <a:p>
            <a:fld id="{F90830EF-8BC9-4C07-AF45-D6B295C125CD}" type="slidenum">
              <a:rPr lang="en-US" smtClean="0">
                <a:solidFill>
                  <a:sysClr val="windowText" lastClr="000000"/>
                </a:solidFill>
                <a:latin typeface="Times New Roman" panose="02020603050405020304" pitchFamily="18" charset="0"/>
                <a:cs typeface="Times New Roman" panose="02020603050405020304" pitchFamily="18" charset="0"/>
              </a:rPr>
              <a:pPr/>
              <a:t>9</a:t>
            </a:fld>
            <a:endParaRPr lang="en-US" dirty="0">
              <a:solidFill>
                <a:sysClr val="windowText" lastClr="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PROPOSED SYSTEM</a:t>
            </a:r>
          </a:p>
        </p:txBody>
      </p:sp>
      <p:sp>
        <p:nvSpPr>
          <p:cNvPr id="3" name="Content Placeholder 2"/>
          <p:cNvSpPr>
            <a:spLocks noGrp="1"/>
          </p:cNvSpPr>
          <p:nvPr>
            <p:ph idx="1"/>
          </p:nvPr>
        </p:nvSpPr>
        <p:spPr/>
        <p:txBody>
          <a:bodyPr>
            <a:normAutofit/>
          </a:bodyPr>
          <a:lstStyle/>
          <a:p>
            <a:pPr lvl="0">
              <a:buFont typeface="Wingdings" pitchFamily="2" charset="2"/>
              <a:buChar char="Ø"/>
            </a:pPr>
            <a:r>
              <a:rPr lang="en-US" sz="2400" dirty="0">
                <a:latin typeface="Times New Roman" pitchFamily="18" charset="0"/>
                <a:cs typeface="Times New Roman" pitchFamily="18" charset="0"/>
              </a:rPr>
              <a:t>In this project we can sense the garbage level and reduce the </a:t>
            </a:r>
            <a:r>
              <a:rPr lang="en-US" sz="2400" dirty="0" err="1">
                <a:latin typeface="Times New Roman" pitchFamily="18" charset="0"/>
                <a:cs typeface="Times New Roman" pitchFamily="18" charset="0"/>
              </a:rPr>
              <a:t>disesases,human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effort,time</a:t>
            </a:r>
            <a:r>
              <a:rPr lang="en-US" sz="2400" dirty="0">
                <a:latin typeface="Times New Roman" pitchFamily="18" charset="0"/>
                <a:cs typeface="Times New Roman" pitchFamily="18" charset="0"/>
              </a:rPr>
              <a:t>.</a:t>
            </a:r>
          </a:p>
          <a:p>
            <a:pPr lvl="0" algn="just">
              <a:buNone/>
            </a:pPr>
            <a:endParaRPr lang="en-IN" sz="2400" dirty="0">
              <a:latin typeface="Times New Roman" pitchFamily="18" charset="0"/>
              <a:cs typeface="Times New Roman" pitchFamily="18" charset="0"/>
            </a:endParaRPr>
          </a:p>
          <a:p>
            <a:pPr lvl="0" algn="just">
              <a:buFont typeface="Wingdings" panose="05000000000000000000" pitchFamily="2" charset="2"/>
              <a:buChar char="Ø"/>
            </a:pPr>
            <a:r>
              <a:rPr lang="en-US" sz="2400" dirty="0">
                <a:latin typeface="Times New Roman" pitchFamily="18" charset="0"/>
                <a:cs typeface="Times New Roman" pitchFamily="18" charset="0"/>
              </a:rPr>
              <a:t>System can be accessed anytime and from anywhere.</a:t>
            </a:r>
          </a:p>
          <a:p>
            <a:pPr lvl="0" algn="just">
              <a:buNone/>
            </a:pPr>
            <a:endParaRPr lang="en-US" sz="2400" dirty="0">
              <a:latin typeface="Times New Roman" pitchFamily="18" charset="0"/>
              <a:cs typeface="Times New Roman" pitchFamily="18" charset="0"/>
            </a:endParaRPr>
          </a:p>
          <a:p>
            <a:pPr algn="just">
              <a:buFont typeface="Wingdings" panose="05000000000000000000" pitchFamily="2" charset="2"/>
              <a:buChar char="Ø"/>
            </a:pPr>
            <a:r>
              <a:rPr lang="en-US" sz="2400" dirty="0">
                <a:latin typeface="Times New Roman" pitchFamily="18" charset="0"/>
                <a:cs typeface="Times New Roman" pitchFamily="18" charset="0"/>
              </a:rPr>
              <a:t>Avoids the overflows of garbage bins.</a:t>
            </a:r>
          </a:p>
          <a:p>
            <a:pPr lvl="0" algn="just">
              <a:buNone/>
            </a:pPr>
            <a:endParaRPr lang="en-IN" sz="2400" dirty="0">
              <a:latin typeface="Times New Roman" pitchFamily="18" charset="0"/>
              <a:cs typeface="Times New Roman" pitchFamily="18" charset="0"/>
            </a:endParaRPr>
          </a:p>
          <a:p>
            <a:pPr lvl="0" algn="just">
              <a:buFont typeface="Wingdings" panose="05000000000000000000" pitchFamily="2" charset="2"/>
              <a:buChar char="Ø"/>
            </a:pPr>
            <a:r>
              <a:rPr lang="en-US" sz="2400" dirty="0">
                <a:latin typeface="Times New Roman" pitchFamily="18" charset="0"/>
                <a:cs typeface="Times New Roman" pitchFamily="18" charset="0"/>
              </a:rPr>
              <a:t>The ultrasonic sensor transmit/receive the signal from </a:t>
            </a:r>
            <a:r>
              <a:rPr lang="en-US" sz="2400">
                <a:latin typeface="Times New Roman" pitchFamily="18" charset="0"/>
                <a:cs typeface="Times New Roman" pitchFamily="18" charset="0"/>
              </a:rPr>
              <a:t>dustbin and the </a:t>
            </a:r>
            <a:r>
              <a:rPr lang="en-US" sz="2400" dirty="0">
                <a:latin typeface="Times New Roman" pitchFamily="18" charset="0"/>
                <a:cs typeface="Times New Roman" pitchFamily="18" charset="0"/>
              </a:rPr>
              <a:t>data send to the </a:t>
            </a:r>
            <a:r>
              <a:rPr lang="en-US" sz="2400" dirty="0" err="1">
                <a:latin typeface="Times New Roman" pitchFamily="18" charset="0"/>
                <a:cs typeface="Times New Roman" pitchFamily="18" charset="0"/>
              </a:rPr>
              <a:t>NodeMCU</a:t>
            </a:r>
            <a:r>
              <a:rPr lang="en-US" sz="2400" dirty="0">
                <a:latin typeface="Times New Roman" pitchFamily="18" charset="0"/>
                <a:cs typeface="Times New Roman" pitchFamily="18" charset="0"/>
              </a:rPr>
              <a:t> and store in cloud.</a:t>
            </a:r>
          </a:p>
          <a:p>
            <a:endParaRPr lang="en-US" sz="2400" dirty="0"/>
          </a:p>
        </p:txBody>
      </p:sp>
      <p:sp>
        <p:nvSpPr>
          <p:cNvPr id="5" name="Slide Number Placeholder 4">
            <a:extLst>
              <a:ext uri="{FF2B5EF4-FFF2-40B4-BE49-F238E27FC236}">
                <a16:creationId xmlns:a16="http://schemas.microsoft.com/office/drawing/2014/main" id="{7B031897-4F1E-430A-B7A2-A04B51F2B26D}"/>
              </a:ext>
            </a:extLst>
          </p:cNvPr>
          <p:cNvSpPr>
            <a:spLocks noGrp="1"/>
          </p:cNvSpPr>
          <p:nvPr>
            <p:ph type="sldNum" sz="quarter" idx="12"/>
          </p:nvPr>
        </p:nvSpPr>
        <p:spPr>
          <a:xfrm>
            <a:off x="6477000" y="6322580"/>
            <a:ext cx="2133600" cy="365125"/>
          </a:xfrm>
        </p:spPr>
        <p:txBody>
          <a:bodyPr/>
          <a:lstStyle/>
          <a:p>
            <a:fld id="{F90830EF-8BC9-4C07-AF45-D6B295C125CD}" type="slidenum">
              <a:rPr lang="en-US" smtClean="0">
                <a:solidFill>
                  <a:sysClr val="windowText" lastClr="000000"/>
                </a:solidFill>
                <a:latin typeface="Times New Roman" panose="02020603050405020304" pitchFamily="18" charset="0"/>
                <a:cs typeface="Times New Roman" panose="02020603050405020304" pitchFamily="18" charset="0"/>
              </a:rPr>
              <a:pPr/>
              <a:t>10</a:t>
            </a:fld>
            <a:endParaRPr lang="en-US" dirty="0">
              <a:solidFill>
                <a:sysClr val="windowText" lastClr="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6A2220F2-0712-4A23-A83D-42B9E270E71B}"/>
              </a:ext>
            </a:extLst>
          </p:cNvPr>
          <p:cNvSpPr>
            <a:spLocks noGrp="1"/>
          </p:cNvSpPr>
          <p:nvPr>
            <p:ph type="title"/>
          </p:nvPr>
        </p:nvSpPr>
        <p:spPr>
          <a:xfrm>
            <a:off x="439075" y="50023"/>
            <a:ext cx="8229600" cy="889920"/>
          </a:xfrm>
        </p:spPr>
        <p:txBody>
          <a:bodyPr>
            <a:normAutofit/>
          </a:bodyPr>
          <a:lstStyle/>
          <a:p>
            <a:r>
              <a:rPr lang="en-US"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BLOCK DIAGRAM </a:t>
            </a:r>
            <a:endParaRPr lang="en-IN" dirty="0">
              <a:effectLst>
                <a:outerShdw blurRad="38100" dist="38100" dir="2700000" algn="tl">
                  <a:srgbClr val="000000">
                    <a:alpha val="43137"/>
                  </a:srgbClr>
                </a:outerShdw>
              </a:effectLst>
            </a:endParaRPr>
          </a:p>
        </p:txBody>
      </p:sp>
      <p:cxnSp>
        <p:nvCxnSpPr>
          <p:cNvPr id="98" name="Straight Arrow Connector 97">
            <a:extLst>
              <a:ext uri="{FF2B5EF4-FFF2-40B4-BE49-F238E27FC236}">
                <a16:creationId xmlns:a16="http://schemas.microsoft.com/office/drawing/2014/main" id="{F4B92870-A344-4827-847D-2A0A21B18B69}"/>
              </a:ext>
            </a:extLst>
          </p:cNvPr>
          <p:cNvCxnSpPr/>
          <p:nvPr/>
        </p:nvCxnSpPr>
        <p:spPr>
          <a:xfrm flipH="1" flipV="1">
            <a:off x="-1920240" y="-173736"/>
            <a:ext cx="15240" cy="241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Slide Number Placeholder 2">
            <a:extLst>
              <a:ext uri="{FF2B5EF4-FFF2-40B4-BE49-F238E27FC236}">
                <a16:creationId xmlns:a16="http://schemas.microsoft.com/office/drawing/2014/main" id="{29B776F3-A70C-4286-82E3-DC1FACA1B987}"/>
              </a:ext>
            </a:extLst>
          </p:cNvPr>
          <p:cNvSpPr>
            <a:spLocks noGrp="1"/>
          </p:cNvSpPr>
          <p:nvPr>
            <p:ph type="sldNum" sz="quarter" idx="12"/>
          </p:nvPr>
        </p:nvSpPr>
        <p:spPr/>
        <p:txBody>
          <a:bodyPr/>
          <a:lstStyle/>
          <a:p>
            <a:fld id="{F90830EF-8BC9-4C07-AF45-D6B295C125CD}" type="slidenum">
              <a:rPr lang="en-US" smtClean="0">
                <a:solidFill>
                  <a:sysClr val="windowText" lastClr="000000"/>
                </a:solidFill>
                <a:latin typeface="Times New Roman" panose="02020603050405020304" pitchFamily="18" charset="0"/>
                <a:cs typeface="Times New Roman" panose="02020603050405020304" pitchFamily="18" charset="0"/>
              </a:rPr>
              <a:pPr/>
              <a:t>11</a:t>
            </a:fld>
            <a:endParaRPr lang="en-US" dirty="0">
              <a:solidFill>
                <a:sysClr val="windowText" lastClr="000000"/>
              </a:solidFill>
              <a:latin typeface="Times New Roman" panose="02020603050405020304" pitchFamily="18" charset="0"/>
              <a:cs typeface="Times New Roman" panose="02020603050405020304" pitchFamily="18" charset="0"/>
            </a:endParaRPr>
          </a:p>
        </p:txBody>
      </p:sp>
      <p:pic>
        <p:nvPicPr>
          <p:cNvPr id="39" name="image6.jpeg" descr="Capture.PNG"/>
          <p:cNvPicPr/>
          <p:nvPr/>
        </p:nvPicPr>
        <p:blipFill>
          <a:blip r:embed="rId3" cstate="print"/>
          <a:stretch>
            <a:fillRect/>
          </a:stretch>
        </p:blipFill>
        <p:spPr>
          <a:xfrm>
            <a:off x="1143000" y="1447800"/>
            <a:ext cx="7010400" cy="4114800"/>
          </a:xfrm>
          <a:prstGeom prst="rect">
            <a:avLst/>
          </a:prstGeom>
        </p:spPr>
      </p:pic>
    </p:spTree>
    <p:extLst>
      <p:ext uri="{BB962C8B-B14F-4D97-AF65-F5344CB8AC3E}">
        <p14:creationId xmlns:p14="http://schemas.microsoft.com/office/powerpoint/2010/main" val="1706456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5488" y="457200"/>
            <a:ext cx="8229600" cy="1143000"/>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DESCRIPTION</a:t>
            </a:r>
          </a:p>
        </p:txBody>
      </p:sp>
      <p:sp>
        <p:nvSpPr>
          <p:cNvPr id="3" name="Content Placeholder 2"/>
          <p:cNvSpPr>
            <a:spLocks noGrp="1"/>
          </p:cNvSpPr>
          <p:nvPr>
            <p:ph idx="1"/>
          </p:nvPr>
        </p:nvSpPr>
        <p:spPr>
          <a:xfrm>
            <a:off x="703072" y="1905000"/>
            <a:ext cx="7976616" cy="4267200"/>
          </a:xfrm>
        </p:spPr>
        <p:txBody>
          <a:bodyPr>
            <a:noAutofit/>
          </a:bodyPr>
          <a:lstStyle/>
          <a:p>
            <a:pPr lvl="0" algn="just" fontAlgn="base">
              <a:spcBef>
                <a:spcPct val="0"/>
              </a:spcBef>
              <a:spcAft>
                <a:spcPct val="0"/>
              </a:spcAft>
              <a:buFont typeface="Wingdings" panose="05000000000000000000" pitchFamily="2" charset="2"/>
              <a:buChar char="Ø"/>
            </a:pPr>
            <a:endParaRPr lang="en-US" sz="2400" dirty="0">
              <a:latin typeface="Times New Roman" pitchFamily="18" charset="0"/>
              <a:cs typeface="Times New Roman" pitchFamily="18" charset="0"/>
            </a:endParaRPr>
          </a:p>
          <a:p>
            <a:pPr lvl="0" algn="just" eaLnBrk="0" fontAlgn="base" hangingPunct="0">
              <a:spcBef>
                <a:spcPct val="0"/>
              </a:spcBef>
              <a:spcAft>
                <a:spcPct val="0"/>
              </a:spcAft>
              <a:buFont typeface="Wingdings" panose="05000000000000000000" pitchFamily="2" charset="2"/>
              <a:buChar char="Ø"/>
            </a:pPr>
            <a:r>
              <a:rPr lang="en-US" sz="2400" dirty="0">
                <a:latin typeface="Times New Roman" pitchFamily="18" charset="0"/>
                <a:ea typeface="Times New Roman" pitchFamily="18" charset="0"/>
                <a:cs typeface="Times New Roman" pitchFamily="18" charset="0"/>
              </a:rPr>
              <a:t>This project is proposed with garbage waste monitoring circuits organized together by connecting respective sensors to the </a:t>
            </a:r>
            <a:r>
              <a:rPr lang="en-US" sz="2400" dirty="0" err="1">
                <a:latin typeface="Times New Roman" pitchFamily="18" charset="0"/>
                <a:ea typeface="Times New Roman" pitchFamily="18" charset="0"/>
                <a:cs typeface="Times New Roman" pitchFamily="18" charset="0"/>
              </a:rPr>
              <a:t>NodeMCU</a:t>
            </a:r>
            <a:r>
              <a:rPr lang="en-US" sz="2400" dirty="0">
                <a:latin typeface="Times New Roman" pitchFamily="18" charset="0"/>
                <a:ea typeface="Times New Roman" pitchFamily="18" charset="0"/>
                <a:cs typeface="Times New Roman" pitchFamily="18" charset="0"/>
              </a:rPr>
              <a:t>.</a:t>
            </a:r>
          </a:p>
          <a:p>
            <a:pPr lvl="0" algn="just" eaLnBrk="0" fontAlgn="base" hangingPunct="0">
              <a:spcBef>
                <a:spcPct val="0"/>
              </a:spcBef>
              <a:spcAft>
                <a:spcPct val="0"/>
              </a:spcAft>
              <a:buFont typeface="Wingdings" panose="05000000000000000000" pitchFamily="2" charset="2"/>
              <a:buChar char="Ø"/>
            </a:pPr>
            <a:endParaRPr lang="en-US" sz="2400" dirty="0">
              <a:latin typeface="Times New Roman" pitchFamily="18" charset="0"/>
              <a:ea typeface="Times New Roman" pitchFamily="18" charset="0"/>
              <a:cs typeface="Times New Roman" pitchFamily="18" charset="0"/>
            </a:endParaRPr>
          </a:p>
          <a:p>
            <a:pPr lvl="0" algn="just" eaLnBrk="0" fontAlgn="base" hangingPunct="0">
              <a:spcBef>
                <a:spcPct val="0"/>
              </a:spcBef>
              <a:spcAft>
                <a:spcPct val="0"/>
              </a:spcAft>
              <a:buFont typeface="Wingdings" panose="05000000000000000000" pitchFamily="2" charset="2"/>
              <a:buChar char="Ø"/>
            </a:pPr>
            <a:r>
              <a:rPr lang="en-US" sz="2400" dirty="0">
                <a:latin typeface="Times New Roman" pitchFamily="18" charset="0"/>
                <a:ea typeface="Times New Roman" pitchFamily="18" charset="0"/>
                <a:cs typeface="Times New Roman" pitchFamily="18" charset="0"/>
              </a:rPr>
              <a:t>The whole set up is associated with Internet of Things(IoT) to notify the garbage waste level. </a:t>
            </a:r>
          </a:p>
          <a:p>
            <a:pPr marL="0" lvl="0" indent="0" algn="just" eaLnBrk="0" fontAlgn="base" hangingPunct="0">
              <a:spcBef>
                <a:spcPct val="0"/>
              </a:spcBef>
              <a:spcAft>
                <a:spcPct val="0"/>
              </a:spcAft>
              <a:buFont typeface="Wingdings" pitchFamily="2" charset="2"/>
              <a:buChar char="Ø"/>
            </a:pPr>
            <a:endParaRPr lang="en-US" sz="2400" dirty="0">
              <a:latin typeface="Times New Roman" pitchFamily="18" charset="0"/>
              <a:cs typeface="Times New Roman" pitchFamily="18" charset="0"/>
            </a:endParaRPr>
          </a:p>
          <a:p>
            <a:pPr marL="0" indent="0">
              <a:buNone/>
            </a:pPr>
            <a:endParaRPr lang="en-US" sz="2400" dirty="0"/>
          </a:p>
        </p:txBody>
      </p:sp>
      <p:sp>
        <p:nvSpPr>
          <p:cNvPr id="5" name="Slide Number Placeholder 4">
            <a:extLst>
              <a:ext uri="{FF2B5EF4-FFF2-40B4-BE49-F238E27FC236}">
                <a16:creationId xmlns:a16="http://schemas.microsoft.com/office/drawing/2014/main" id="{F5EA4F81-CC71-4597-A6E3-B83897CC7AF3}"/>
              </a:ext>
            </a:extLst>
          </p:cNvPr>
          <p:cNvSpPr>
            <a:spLocks noGrp="1"/>
          </p:cNvSpPr>
          <p:nvPr>
            <p:ph type="sldNum" sz="quarter" idx="12"/>
          </p:nvPr>
        </p:nvSpPr>
        <p:spPr/>
        <p:txBody>
          <a:bodyPr/>
          <a:lstStyle/>
          <a:p>
            <a:fld id="{F90830EF-8BC9-4C07-AF45-D6B295C125CD}" type="slidenum">
              <a:rPr lang="en-US" smtClean="0">
                <a:solidFill>
                  <a:sysClr val="windowText" lastClr="000000"/>
                </a:solidFill>
                <a:latin typeface="Times New Roman" panose="02020603050405020304" pitchFamily="18" charset="0"/>
                <a:cs typeface="Times New Roman" panose="02020603050405020304" pitchFamily="18" charset="0"/>
              </a:rPr>
              <a:pPr/>
              <a:t>12</a:t>
            </a:fld>
            <a:endParaRPr lang="en-US" dirty="0">
              <a:solidFill>
                <a:sysClr val="windowText" lastClr="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09016" y="277813"/>
            <a:ext cx="8229600" cy="1143000"/>
          </a:xfrm>
        </p:spPr>
        <p:txBody>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HARDWARE</a:t>
            </a:r>
            <a:r>
              <a:rPr lang="en-US"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a:t>
            </a:r>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REQUIREMENTS</a:t>
            </a:r>
          </a:p>
        </p:txBody>
      </p:sp>
      <p:sp>
        <p:nvSpPr>
          <p:cNvPr id="3" name="Content Placeholder 2"/>
          <p:cNvSpPr>
            <a:spLocks noGrp="1"/>
          </p:cNvSpPr>
          <p:nvPr>
            <p:ph sz="half" idx="4294967295"/>
          </p:nvPr>
        </p:nvSpPr>
        <p:spPr>
          <a:xfrm>
            <a:off x="0" y="1165225"/>
            <a:ext cx="5165725" cy="4525963"/>
          </a:xfrm>
        </p:spPr>
        <p:txBody>
          <a:bodyPr>
            <a:normAutofit/>
          </a:bodyPr>
          <a:lstStyle/>
          <a:p>
            <a:pPr marL="457200" lvl="1" indent="0">
              <a:buNone/>
            </a:pPr>
            <a:r>
              <a:rPr lang="en-IN" dirty="0">
                <a:latin typeface="Times New Roman" panose="02020603050405020304" pitchFamily="18" charset="0"/>
                <a:cs typeface="Times New Roman" panose="02020603050405020304" pitchFamily="18" charset="0"/>
              </a:rPr>
              <a:t> </a:t>
            </a:r>
          </a:p>
          <a:p>
            <a:pPr algn="just">
              <a:lnSpc>
                <a:spcPct val="150000"/>
              </a:lnSpc>
            </a:pPr>
            <a:endParaRPr lang="en-US" sz="2400" dirty="0">
              <a:latin typeface="Times New Roman" pitchFamily="18" charset="0"/>
              <a:cs typeface="Times New Roman" pitchFamily="18" charset="0"/>
            </a:endParaRPr>
          </a:p>
          <a:p>
            <a:pPr>
              <a:buNone/>
            </a:pPr>
            <a:endParaRPr lang="en-US" sz="2400" dirty="0"/>
          </a:p>
        </p:txBody>
      </p:sp>
      <p:graphicFrame>
        <p:nvGraphicFramePr>
          <p:cNvPr id="4" name="Table 5">
            <a:extLst>
              <a:ext uri="{FF2B5EF4-FFF2-40B4-BE49-F238E27FC236}">
                <a16:creationId xmlns:a16="http://schemas.microsoft.com/office/drawing/2014/main" id="{635F5307-B251-45B5-B337-E1DF78B32068}"/>
              </a:ext>
            </a:extLst>
          </p:cNvPr>
          <p:cNvGraphicFramePr>
            <a:graphicFrameLocks noGrp="1"/>
          </p:cNvGraphicFramePr>
          <p:nvPr>
            <p:extLst>
              <p:ext uri="{D42A27DB-BD31-4B8C-83A1-F6EECF244321}">
                <p14:modId xmlns:p14="http://schemas.microsoft.com/office/powerpoint/2010/main" val="1882263905"/>
              </p:ext>
            </p:extLst>
          </p:nvPr>
        </p:nvGraphicFramePr>
        <p:xfrm>
          <a:off x="2286000" y="1581006"/>
          <a:ext cx="5020056" cy="3526536"/>
        </p:xfrm>
        <a:graphic>
          <a:graphicData uri="http://schemas.openxmlformats.org/drawingml/2006/table">
            <a:tbl>
              <a:tblPr firstRow="1" bandRow="1">
                <a:tableStyleId>{5940675A-B579-460E-94D1-54222C63F5DA}</a:tableStyleId>
              </a:tblPr>
              <a:tblGrid>
                <a:gridCol w="925830">
                  <a:extLst>
                    <a:ext uri="{9D8B030D-6E8A-4147-A177-3AD203B41FA5}">
                      <a16:colId xmlns:a16="http://schemas.microsoft.com/office/drawing/2014/main" val="63983253"/>
                    </a:ext>
                  </a:extLst>
                </a:gridCol>
                <a:gridCol w="4094226">
                  <a:extLst>
                    <a:ext uri="{9D8B030D-6E8A-4147-A177-3AD203B41FA5}">
                      <a16:colId xmlns:a16="http://schemas.microsoft.com/office/drawing/2014/main" val="2765060507"/>
                    </a:ext>
                  </a:extLst>
                </a:gridCol>
              </a:tblGrid>
              <a:tr h="585216">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S.No</a:t>
                      </a:r>
                      <a:endParaRPr lang="en-IN" sz="2000"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r>
                        <a:rPr lang="en-US" sz="2000" dirty="0">
                          <a:solidFill>
                            <a:srgbClr val="FF0000"/>
                          </a:solidFill>
                          <a:latin typeface="Times New Roman" panose="02020603050405020304" pitchFamily="18" charset="0"/>
                          <a:cs typeface="Times New Roman" panose="02020603050405020304" pitchFamily="18" charset="0"/>
                        </a:rPr>
                        <a:t>Component</a:t>
                      </a:r>
                      <a:endParaRPr lang="en-IN" sz="2000" dirty="0">
                        <a:solidFill>
                          <a:srgbClr val="FF0000"/>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82037376"/>
                  </a:ext>
                </a:extLst>
              </a:tr>
              <a:tr h="588264">
                <a:tc>
                  <a:txBody>
                    <a:bodyPr/>
                    <a:lstStyle/>
                    <a:p>
                      <a:pPr algn="ctr"/>
                      <a:r>
                        <a:rPr lang="en-US" sz="2000" dirty="0">
                          <a:latin typeface="Times New Roman" panose="02020603050405020304" pitchFamily="18" charset="0"/>
                          <a:cs typeface="Times New Roman" panose="02020603050405020304" pitchFamily="18" charset="0"/>
                        </a:rPr>
                        <a:t>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err="1">
                          <a:latin typeface="Times New Roman" panose="02020603050405020304" pitchFamily="18" charset="0"/>
                          <a:cs typeface="Times New Roman" panose="02020603050405020304" pitchFamily="18" charset="0"/>
                        </a:rPr>
                        <a:t>NodeMCU</a:t>
                      </a:r>
                      <a:r>
                        <a:rPr lang="en-IN" sz="2000" dirty="0">
                          <a:latin typeface="Times New Roman" panose="02020603050405020304" pitchFamily="18" charset="0"/>
                          <a:cs typeface="Times New Roman" panose="02020603050405020304" pitchFamily="18" charset="0"/>
                        </a:rPr>
                        <a:t>(ESP8266)</a:t>
                      </a:r>
                    </a:p>
                  </a:txBody>
                  <a:tcPr anchor="ctr"/>
                </a:tc>
                <a:extLst>
                  <a:ext uri="{0D108BD9-81ED-4DB2-BD59-A6C34878D82A}">
                    <a16:rowId xmlns:a16="http://schemas.microsoft.com/office/drawing/2014/main" val="3141768992"/>
                  </a:ext>
                </a:extLst>
              </a:tr>
              <a:tr h="588264">
                <a:tc>
                  <a:txBody>
                    <a:bodyPr/>
                    <a:lstStyle/>
                    <a:p>
                      <a:pPr algn="ctr"/>
                      <a:r>
                        <a:rPr lang="en-US" sz="2000" dirty="0">
                          <a:latin typeface="Times New Roman" panose="02020603050405020304" pitchFamily="18" charset="0"/>
                          <a:cs typeface="Times New Roman" panose="02020603050405020304" pitchFamily="18" charset="0"/>
                        </a:rPr>
                        <a:t>2</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Ultrasonic</a:t>
                      </a:r>
                      <a:r>
                        <a:rPr lang="en-IN" sz="2000" baseline="0" dirty="0">
                          <a:latin typeface="Times New Roman" panose="02020603050405020304" pitchFamily="18" charset="0"/>
                          <a:cs typeface="Times New Roman" panose="02020603050405020304" pitchFamily="18" charset="0"/>
                        </a:rPr>
                        <a:t> sensor</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855914246"/>
                  </a:ext>
                </a:extLst>
              </a:tr>
              <a:tr h="588264">
                <a:tc>
                  <a:txBody>
                    <a:bodyPr/>
                    <a:lstStyle/>
                    <a:p>
                      <a:pPr algn="ctr"/>
                      <a:r>
                        <a:rPr lang="en-US" sz="2000" dirty="0">
                          <a:latin typeface="Times New Roman" panose="02020603050405020304" pitchFamily="18" charset="0"/>
                          <a:cs typeface="Times New Roman" panose="02020603050405020304" pitchFamily="18" charset="0"/>
                        </a:rPr>
                        <a:t>3</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lgn="ctr"/>
                      <a:r>
                        <a:rPr lang="en-IN" sz="2000" dirty="0">
                          <a:latin typeface="Times New Roman" panose="02020603050405020304" pitchFamily="18" charset="0"/>
                          <a:cs typeface="Times New Roman" panose="02020603050405020304" pitchFamily="18" charset="0"/>
                        </a:rPr>
                        <a:t>9V</a:t>
                      </a:r>
                      <a:r>
                        <a:rPr lang="en-IN" sz="2000" baseline="0" dirty="0">
                          <a:latin typeface="Times New Roman" panose="02020603050405020304" pitchFamily="18" charset="0"/>
                          <a:cs typeface="Times New Roman" panose="02020603050405020304" pitchFamily="18" charset="0"/>
                        </a:rPr>
                        <a:t> HW Battery</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076081370"/>
                  </a:ext>
                </a:extLst>
              </a:tr>
              <a:tr h="588264">
                <a:tc>
                  <a:txBody>
                    <a:bodyPr/>
                    <a:lstStyle/>
                    <a:p>
                      <a:pPr algn="ctr"/>
                      <a:r>
                        <a:rPr lang="en-US" sz="2000" dirty="0">
                          <a:latin typeface="Times New Roman" panose="02020603050405020304" pitchFamily="18" charset="0"/>
                          <a:cs typeface="Times New Roman" panose="02020603050405020304" pitchFamily="18" charset="0"/>
                        </a:rPr>
                        <a:t>4</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Jumper</a:t>
                      </a:r>
                      <a:r>
                        <a:rPr lang="en-IN" sz="2000" baseline="0" dirty="0">
                          <a:latin typeface="Times New Roman" panose="02020603050405020304" pitchFamily="18" charset="0"/>
                          <a:cs typeface="Times New Roman" panose="02020603050405020304" pitchFamily="18" charset="0"/>
                        </a:rPr>
                        <a:t> wires</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49527511"/>
                  </a:ext>
                </a:extLst>
              </a:tr>
              <a:tr h="588264">
                <a:tc>
                  <a:txBody>
                    <a:bodyPr/>
                    <a:lstStyle/>
                    <a:p>
                      <a:pPr algn="ctr"/>
                      <a:r>
                        <a:rPr lang="en-US" sz="2000" dirty="0">
                          <a:latin typeface="Times New Roman" panose="02020603050405020304" pitchFamily="18" charset="0"/>
                          <a:cs typeface="Times New Roman" panose="02020603050405020304" pitchFamily="18" charset="0"/>
                        </a:rPr>
                        <a:t>5</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Garbage</a:t>
                      </a:r>
                      <a:r>
                        <a:rPr lang="en-IN" sz="2000" baseline="0" dirty="0">
                          <a:latin typeface="Times New Roman" panose="02020603050405020304" pitchFamily="18" charset="0"/>
                          <a:cs typeface="Times New Roman" panose="02020603050405020304" pitchFamily="18" charset="0"/>
                        </a:rPr>
                        <a:t> bin</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8377766"/>
                  </a:ext>
                </a:extLst>
              </a:tr>
            </a:tbl>
          </a:graphicData>
        </a:graphic>
      </p:graphicFrame>
      <p:sp>
        <p:nvSpPr>
          <p:cNvPr id="6" name="Slide Number Placeholder 5">
            <a:extLst>
              <a:ext uri="{FF2B5EF4-FFF2-40B4-BE49-F238E27FC236}">
                <a16:creationId xmlns:a16="http://schemas.microsoft.com/office/drawing/2014/main" id="{4DC074B6-AE28-42AB-A819-B4EA8D80A314}"/>
              </a:ext>
            </a:extLst>
          </p:cNvPr>
          <p:cNvSpPr>
            <a:spLocks noGrp="1"/>
          </p:cNvSpPr>
          <p:nvPr>
            <p:ph type="sldNum" sz="quarter" idx="12"/>
          </p:nvPr>
        </p:nvSpPr>
        <p:spPr/>
        <p:txBody>
          <a:bodyPr/>
          <a:lstStyle/>
          <a:p>
            <a:fld id="{F90830EF-8BC9-4C07-AF45-D6B295C125CD}" type="slidenum">
              <a:rPr lang="en-US" smtClean="0">
                <a:solidFill>
                  <a:sysClr val="windowText" lastClr="000000"/>
                </a:solidFill>
                <a:latin typeface="Times New Roman" panose="02020603050405020304" pitchFamily="18" charset="0"/>
                <a:cs typeface="Times New Roman" panose="02020603050405020304" pitchFamily="18" charset="0"/>
              </a:rPr>
              <a:pPr/>
              <a:t>13</a:t>
            </a:fld>
            <a:endParaRPr lang="en-US" dirty="0">
              <a:solidFill>
                <a:sysClr val="windowText" lastClr="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7434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idx="4294967295"/>
          </p:nvPr>
        </p:nvSpPr>
        <p:spPr>
          <a:xfrm>
            <a:off x="457200" y="334963"/>
            <a:ext cx="8229600" cy="1143000"/>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   SOFTWARE REQUIREMENTS</a:t>
            </a:r>
          </a:p>
        </p:txBody>
      </p:sp>
      <p:sp>
        <p:nvSpPr>
          <p:cNvPr id="12291" name="Content Placeholder 2"/>
          <p:cNvSpPr>
            <a:spLocks noGrp="1"/>
          </p:cNvSpPr>
          <p:nvPr>
            <p:ph idx="4294967295"/>
          </p:nvPr>
        </p:nvSpPr>
        <p:spPr>
          <a:xfrm>
            <a:off x="926592" y="1752600"/>
            <a:ext cx="8229600" cy="4525963"/>
          </a:xfrm>
        </p:spPr>
        <p:txBody>
          <a:bodyPr>
            <a:normAutofit/>
          </a:bodyPr>
          <a:lstStyle/>
          <a:p>
            <a:pPr marL="0" indent="0">
              <a:buNone/>
            </a:pPr>
            <a:r>
              <a:rPr lang="en-IN" sz="2400" dirty="0">
                <a:latin typeface="Times New Roman" panose="02020603050405020304" pitchFamily="18" charset="0"/>
                <a:cs typeface="Times New Roman" panose="02020603050405020304" pitchFamily="18" charset="0"/>
              </a:rPr>
              <a:t> </a:t>
            </a:r>
            <a:endParaRPr lang="en-IN" dirty="0"/>
          </a:p>
        </p:txBody>
      </p:sp>
      <p:pic>
        <p:nvPicPr>
          <p:cNvPr id="1026" name="Picture 2" descr="GitHub - arduino/Arduino: open-source electronics platform">
            <a:extLst>
              <a:ext uri="{FF2B5EF4-FFF2-40B4-BE49-F238E27FC236}">
                <a16:creationId xmlns:a16="http://schemas.microsoft.com/office/drawing/2014/main" id="{B1AE793F-E9BB-4F01-9750-5CCA15B5DD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4114800"/>
            <a:ext cx="2476500" cy="18478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2">
            <a:extLst>
              <a:ext uri="{FF2B5EF4-FFF2-40B4-BE49-F238E27FC236}">
                <a16:creationId xmlns:a16="http://schemas.microsoft.com/office/drawing/2014/main" id="{ECD0FB83-277E-4F93-883B-26990AC75855}"/>
              </a:ext>
            </a:extLst>
          </p:cNvPr>
          <p:cNvGraphicFramePr>
            <a:graphicFrameLocks noGrp="1"/>
          </p:cNvGraphicFramePr>
          <p:nvPr>
            <p:extLst>
              <p:ext uri="{D42A27DB-BD31-4B8C-83A1-F6EECF244321}">
                <p14:modId xmlns:p14="http://schemas.microsoft.com/office/powerpoint/2010/main" val="3709355941"/>
              </p:ext>
            </p:extLst>
          </p:nvPr>
        </p:nvGraphicFramePr>
        <p:xfrm>
          <a:off x="2286000" y="1741055"/>
          <a:ext cx="5257800" cy="1730248"/>
        </p:xfrm>
        <a:graphic>
          <a:graphicData uri="http://schemas.openxmlformats.org/drawingml/2006/table">
            <a:tbl>
              <a:tblPr firstRow="1" bandRow="1">
                <a:tableStyleId>{5940675A-B579-460E-94D1-54222C63F5DA}</a:tableStyleId>
              </a:tblPr>
              <a:tblGrid>
                <a:gridCol w="762000">
                  <a:extLst>
                    <a:ext uri="{9D8B030D-6E8A-4147-A177-3AD203B41FA5}">
                      <a16:colId xmlns:a16="http://schemas.microsoft.com/office/drawing/2014/main" val="3895929895"/>
                    </a:ext>
                  </a:extLst>
                </a:gridCol>
                <a:gridCol w="3048000">
                  <a:extLst>
                    <a:ext uri="{9D8B030D-6E8A-4147-A177-3AD203B41FA5}">
                      <a16:colId xmlns:a16="http://schemas.microsoft.com/office/drawing/2014/main" val="1714467951"/>
                    </a:ext>
                  </a:extLst>
                </a:gridCol>
                <a:gridCol w="1447800">
                  <a:extLst>
                    <a:ext uri="{9D8B030D-6E8A-4147-A177-3AD203B41FA5}">
                      <a16:colId xmlns:a16="http://schemas.microsoft.com/office/drawing/2014/main" val="781224256"/>
                    </a:ext>
                  </a:extLst>
                </a:gridCol>
              </a:tblGrid>
              <a:tr h="422493">
                <a:tc>
                  <a:txBody>
                    <a:bodyPr/>
                    <a:lstStyle/>
                    <a:p>
                      <a:pPr algn="ctr">
                        <a:lnSpc>
                          <a:spcPct val="150000"/>
                        </a:lnSpc>
                      </a:pPr>
                      <a:r>
                        <a:rPr lang="en-US" sz="1800" dirty="0" err="1">
                          <a:solidFill>
                            <a:srgbClr val="FF0000"/>
                          </a:solidFill>
                          <a:latin typeface="Times New Roman" panose="02020603050405020304" pitchFamily="18" charset="0"/>
                          <a:cs typeface="Times New Roman" panose="02020603050405020304" pitchFamily="18" charset="0"/>
                        </a:rPr>
                        <a:t>S.No</a:t>
                      </a:r>
                      <a:endParaRPr lang="en-IN" sz="1800"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sz="1800" dirty="0">
                          <a:solidFill>
                            <a:srgbClr val="FF0000"/>
                          </a:solidFill>
                          <a:latin typeface="Times New Roman" panose="02020603050405020304" pitchFamily="18" charset="0"/>
                          <a:cs typeface="Times New Roman" panose="02020603050405020304" pitchFamily="18" charset="0"/>
                        </a:rPr>
                        <a:t>Software</a:t>
                      </a:r>
                      <a:endParaRPr lang="en-IN" sz="1800" dirty="0">
                        <a:solidFill>
                          <a:srgbClr val="FF0000"/>
                        </a:solidFill>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sz="1800" dirty="0">
                          <a:solidFill>
                            <a:srgbClr val="FF0000"/>
                          </a:solidFill>
                          <a:latin typeface="Times New Roman" panose="02020603050405020304" pitchFamily="18" charset="0"/>
                          <a:cs typeface="Times New Roman" panose="02020603050405020304" pitchFamily="18" charset="0"/>
                        </a:rPr>
                        <a:t>Version</a:t>
                      </a:r>
                      <a:endParaRPr lang="en-IN" sz="1800" dirty="0">
                        <a:solidFill>
                          <a:srgbClr val="FF0000"/>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722183219"/>
                  </a:ext>
                </a:extLst>
              </a:tr>
              <a:tr h="370840">
                <a:tc>
                  <a:txBody>
                    <a:bodyPr/>
                    <a:lstStyle/>
                    <a:p>
                      <a:pPr algn="ctr">
                        <a:lnSpc>
                          <a:spcPct val="150000"/>
                        </a:lnSpc>
                      </a:pPr>
                      <a:r>
                        <a:rPr lang="en-US" sz="1800" dirty="0">
                          <a:latin typeface="Times New Roman" panose="02020603050405020304" pitchFamily="18" charset="0"/>
                          <a:cs typeface="Times New Roman" panose="02020603050405020304" pitchFamily="18" charset="0"/>
                        </a:rPr>
                        <a:t>1</a:t>
                      </a:r>
                      <a:endParaRPr lang="en-IN" sz="180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IN" sz="1800" dirty="0">
                          <a:latin typeface="Times New Roman" panose="02020603050405020304" pitchFamily="18" charset="0"/>
                          <a:cs typeface="Times New Roman" panose="02020603050405020304" pitchFamily="18" charset="0"/>
                        </a:rPr>
                        <a:t>Arduino IDE </a:t>
                      </a:r>
                    </a:p>
                  </a:txBody>
                  <a:tcPr anchor="ctr"/>
                </a:tc>
                <a:tc>
                  <a:txBody>
                    <a:bodyPr/>
                    <a:lstStyle/>
                    <a:p>
                      <a:pPr marL="0" marR="0" lvl="0" indent="0" algn="ctr" defTabSz="914400" rtl="0" eaLnBrk="1" fontAlgn="auto" latinLnBrk="0" hangingPunct="1">
                        <a:lnSpc>
                          <a:spcPct val="150000"/>
                        </a:lnSpc>
                        <a:spcBef>
                          <a:spcPts val="0"/>
                        </a:spcBef>
                        <a:spcAft>
                          <a:spcPts val="0"/>
                        </a:spcAft>
                        <a:buClrTx/>
                        <a:buSzTx/>
                        <a:buFontTx/>
                        <a:buNone/>
                        <a:tabLst/>
                        <a:defRPr/>
                      </a:pPr>
                      <a:endParaRPr lang="en-IN" sz="1800" dirty="0">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50000"/>
                        </a:lnSpc>
                        <a:spcBef>
                          <a:spcPts val="0"/>
                        </a:spcBef>
                        <a:spcAft>
                          <a:spcPts val="0"/>
                        </a:spcAft>
                        <a:buClrTx/>
                        <a:buSzTx/>
                        <a:buFontTx/>
                        <a:buNone/>
                        <a:tabLst/>
                        <a:defRPr/>
                      </a:pPr>
                      <a:r>
                        <a:rPr lang="en-IN" sz="1800" dirty="0">
                          <a:latin typeface="Times New Roman" panose="02020603050405020304" pitchFamily="18" charset="0"/>
                          <a:cs typeface="Times New Roman" panose="02020603050405020304" pitchFamily="18" charset="0"/>
                        </a:rPr>
                        <a:t>1.8.19</a:t>
                      </a:r>
                    </a:p>
                    <a:p>
                      <a:pPr algn="ctr">
                        <a:lnSpc>
                          <a:spcPct val="150000"/>
                        </a:lnSpc>
                      </a:pPr>
                      <a:endParaRPr lang="en-IN" sz="18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86470210"/>
                  </a:ext>
                </a:extLst>
              </a:tr>
            </a:tbl>
          </a:graphicData>
        </a:graphic>
      </p:graphicFrame>
      <p:sp>
        <p:nvSpPr>
          <p:cNvPr id="4" name="Slide Number Placeholder 3">
            <a:extLst>
              <a:ext uri="{FF2B5EF4-FFF2-40B4-BE49-F238E27FC236}">
                <a16:creationId xmlns:a16="http://schemas.microsoft.com/office/drawing/2014/main" id="{BCBBF33B-FDD9-43B3-8781-E4B3F25DD5A7}"/>
              </a:ext>
            </a:extLst>
          </p:cNvPr>
          <p:cNvSpPr>
            <a:spLocks noGrp="1"/>
          </p:cNvSpPr>
          <p:nvPr>
            <p:ph type="sldNum" sz="quarter" idx="12"/>
          </p:nvPr>
        </p:nvSpPr>
        <p:spPr/>
        <p:txBody>
          <a:bodyPr/>
          <a:lstStyle/>
          <a:p>
            <a:fld id="{F90830EF-8BC9-4C07-AF45-D6B295C125CD}" type="slidenum">
              <a:rPr lang="en-US" smtClean="0">
                <a:solidFill>
                  <a:sysClr val="windowText" lastClr="000000"/>
                </a:solidFill>
                <a:latin typeface="Times New Roman" panose="02020603050405020304" pitchFamily="18" charset="0"/>
                <a:cs typeface="Times New Roman" panose="02020603050405020304" pitchFamily="18" charset="0"/>
              </a:rPr>
              <a:pPr/>
              <a:t>14</a:t>
            </a:fld>
            <a:endParaRPr lang="en-US" dirty="0">
              <a:solidFill>
                <a:sysClr val="windowText" lastClr="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2435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ADVANTAGES</a:t>
            </a:r>
          </a:p>
        </p:txBody>
      </p:sp>
      <p:sp>
        <p:nvSpPr>
          <p:cNvPr id="3" name="Content Placeholder 2"/>
          <p:cNvSpPr>
            <a:spLocks noGrp="1"/>
          </p:cNvSpPr>
          <p:nvPr>
            <p:ph idx="1"/>
          </p:nvPr>
        </p:nvSpPr>
        <p:spPr>
          <a:xfrm>
            <a:off x="475673" y="1600200"/>
            <a:ext cx="8229600" cy="4525963"/>
          </a:xfrm>
        </p:spPr>
        <p:txBody>
          <a:bodyPr>
            <a:normAutofit/>
          </a:bodyPr>
          <a:lstStyle/>
          <a:p>
            <a:pPr>
              <a:buFont typeface="Wingdings" pitchFamily="2" charset="2"/>
              <a:buChar char="Ø"/>
            </a:pPr>
            <a:r>
              <a:rPr lang="en-US" sz="2400" dirty="0">
                <a:latin typeface="Times New Roman" pitchFamily="18" charset="0"/>
                <a:cs typeface="Times New Roman" pitchFamily="18" charset="0"/>
              </a:rPr>
              <a:t>Ultrasonic sensor accuracy is high.</a:t>
            </a:r>
          </a:p>
          <a:p>
            <a:pPr>
              <a:buFont typeface="Wingdings" pitchFamily="2" charset="2"/>
              <a:buChar char="Ø"/>
            </a:pPr>
            <a:endParaRPr lang="en-US" sz="2400" dirty="0">
              <a:latin typeface="Times New Roman" pitchFamily="18" charset="0"/>
              <a:cs typeface="Times New Roman" pitchFamily="18" charset="0"/>
            </a:endParaRPr>
          </a:p>
          <a:p>
            <a:pPr>
              <a:buFont typeface="Wingdings" pitchFamily="2" charset="2"/>
              <a:buChar char="Ø"/>
            </a:pPr>
            <a:r>
              <a:rPr lang="en-US" sz="2400" dirty="0">
                <a:latin typeface="Times New Roman" pitchFamily="18" charset="0"/>
                <a:cs typeface="Times New Roman" pitchFamily="18" charset="0"/>
              </a:rPr>
              <a:t>To reduce the human </a:t>
            </a:r>
            <a:r>
              <a:rPr lang="en-US" sz="2400" dirty="0" err="1">
                <a:latin typeface="Times New Roman" pitchFamily="18" charset="0"/>
                <a:cs typeface="Times New Roman" pitchFamily="18" charset="0"/>
              </a:rPr>
              <a:t>effort,cost,time</a:t>
            </a:r>
            <a:r>
              <a:rPr lang="en-US" sz="2400" dirty="0">
                <a:latin typeface="Times New Roman" pitchFamily="18" charset="0"/>
                <a:cs typeface="Times New Roman" pitchFamily="18" charset="0"/>
              </a:rPr>
              <a:t>.</a:t>
            </a:r>
          </a:p>
          <a:p>
            <a:pPr>
              <a:buFont typeface="Wingdings" pitchFamily="2" charset="2"/>
              <a:buChar char="Ø"/>
            </a:pPr>
            <a:endParaRPr lang="en-US" sz="2400" dirty="0">
              <a:latin typeface="Times New Roman" pitchFamily="18" charset="0"/>
              <a:cs typeface="Times New Roman" pitchFamily="18" charset="0"/>
            </a:endParaRPr>
          </a:p>
          <a:p>
            <a:pPr lvl="0">
              <a:buFont typeface="Wingdings" pitchFamily="2" charset="2"/>
              <a:buChar char="Ø"/>
            </a:pPr>
            <a:r>
              <a:rPr lang="en-US" sz="2400" dirty="0">
                <a:latin typeface="Times New Roman" pitchFamily="18" charset="0"/>
                <a:cs typeface="Times New Roman" pitchFamily="18" charset="0"/>
              </a:rPr>
              <a:t>To reduce the diseases.</a:t>
            </a:r>
          </a:p>
          <a:p>
            <a:pPr lvl="0">
              <a:buNone/>
            </a:pPr>
            <a:endParaRPr lang="en-US" sz="2400" dirty="0">
              <a:latin typeface="Times New Roman" pitchFamily="18" charset="0"/>
              <a:cs typeface="Times New Roman" pitchFamily="18" charset="0"/>
            </a:endParaRPr>
          </a:p>
          <a:p>
            <a:pPr lvl="0">
              <a:buFont typeface="Wingdings" pitchFamily="2" charset="2"/>
              <a:buChar char="Ø"/>
            </a:pPr>
            <a:r>
              <a:rPr lang="en-US" sz="2400" dirty="0">
                <a:latin typeface="Times New Roman" pitchFamily="18" charset="0"/>
                <a:cs typeface="Times New Roman" pitchFamily="18" charset="0"/>
              </a:rPr>
              <a:t>Real time information on the fill level of the dustbin.</a:t>
            </a:r>
          </a:p>
          <a:p>
            <a:pPr lvl="0">
              <a:buNone/>
            </a:pPr>
            <a:endParaRPr lang="en-US" sz="2400" dirty="0">
              <a:latin typeface="Times New Roman" pitchFamily="18" charset="0"/>
              <a:cs typeface="Times New Roman" pitchFamily="18" charset="0"/>
            </a:endParaRPr>
          </a:p>
          <a:p>
            <a:pPr lvl="0">
              <a:buFont typeface="Wingdings" pitchFamily="2" charset="2"/>
              <a:buChar char="Ø"/>
            </a:pPr>
            <a:r>
              <a:rPr lang="en-US" sz="2400" dirty="0">
                <a:latin typeface="Times New Roman" pitchFamily="18" charset="0"/>
                <a:cs typeface="Times New Roman" pitchFamily="18" charset="0"/>
              </a:rPr>
              <a:t>Improves Environment quality.</a:t>
            </a:r>
          </a:p>
          <a:p>
            <a:pPr algn="just">
              <a:buFont typeface="Wingdings" panose="05000000000000000000" pitchFamily="2" charset="2"/>
              <a:buChar char="§"/>
            </a:pPr>
            <a:endParaRPr lang="en-IN" sz="2400" dirty="0">
              <a:latin typeface="Times New Roman" panose="02020603050405020304" pitchFamily="18" charset="0"/>
              <a:cs typeface="Times New Roman" panose="02020603050405020304" pitchFamily="18" charset="0"/>
            </a:endParaRPr>
          </a:p>
          <a:p>
            <a:pPr marL="0" indent="0">
              <a:buNone/>
            </a:pPr>
            <a:endParaRPr lang="en-US" sz="2400" dirty="0"/>
          </a:p>
        </p:txBody>
      </p:sp>
      <p:sp>
        <p:nvSpPr>
          <p:cNvPr id="5" name="Slide Number Placeholder 4">
            <a:extLst>
              <a:ext uri="{FF2B5EF4-FFF2-40B4-BE49-F238E27FC236}">
                <a16:creationId xmlns:a16="http://schemas.microsoft.com/office/drawing/2014/main" id="{E5EBC453-3814-4C15-9556-E97414696B69}"/>
              </a:ext>
            </a:extLst>
          </p:cNvPr>
          <p:cNvSpPr>
            <a:spLocks noGrp="1"/>
          </p:cNvSpPr>
          <p:nvPr>
            <p:ph type="sldNum" sz="quarter" idx="12"/>
          </p:nvPr>
        </p:nvSpPr>
        <p:spPr/>
        <p:txBody>
          <a:bodyPr/>
          <a:lstStyle/>
          <a:p>
            <a:fld id="{F90830EF-8BC9-4C07-AF45-D6B295C125CD}" type="slidenum">
              <a:rPr lang="en-US" smtClean="0">
                <a:solidFill>
                  <a:sysClr val="windowText" lastClr="000000"/>
                </a:solidFill>
                <a:latin typeface="Times New Roman" panose="02020603050405020304" pitchFamily="18" charset="0"/>
                <a:cs typeface="Times New Roman" panose="02020603050405020304" pitchFamily="18" charset="0"/>
              </a:rPr>
              <a:pPr/>
              <a:t>15</a:t>
            </a:fld>
            <a:endParaRPr lang="en-US" dirty="0">
              <a:solidFill>
                <a:sysClr val="windowText" lastClr="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1D48A-E67D-40C2-ACF8-844D78C59894}"/>
              </a:ext>
            </a:extLst>
          </p:cNvPr>
          <p:cNvSpPr>
            <a:spLocks noGrp="1"/>
          </p:cNvSpPr>
          <p:nvPr>
            <p:ph type="title"/>
          </p:nvPr>
        </p:nvSpPr>
        <p:spPr/>
        <p:txBody>
          <a:bodyPr/>
          <a:lstStyle/>
          <a:p>
            <a:r>
              <a:rPr lang="en-IN"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OUTPUT IMAGES</a:t>
            </a:r>
            <a:br>
              <a:rPr lang="en-IN"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br>
            <a:endParaRPr lang="en-IN"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5" name="Slide Number Placeholder 4">
            <a:extLst>
              <a:ext uri="{FF2B5EF4-FFF2-40B4-BE49-F238E27FC236}">
                <a16:creationId xmlns:a16="http://schemas.microsoft.com/office/drawing/2014/main" id="{158CAF91-C85C-475D-AA03-213FF78DF5E8}"/>
              </a:ext>
            </a:extLst>
          </p:cNvPr>
          <p:cNvSpPr>
            <a:spLocks noGrp="1"/>
          </p:cNvSpPr>
          <p:nvPr>
            <p:ph type="sldNum" sz="quarter" idx="12"/>
          </p:nvPr>
        </p:nvSpPr>
        <p:spPr/>
        <p:txBody>
          <a:bodyPr/>
          <a:lstStyle/>
          <a:p>
            <a:fld id="{F90830EF-8BC9-4C07-AF45-D6B295C125CD}" type="slidenum">
              <a:rPr lang="en-US" smtClean="0">
                <a:solidFill>
                  <a:sysClr val="windowText" lastClr="000000"/>
                </a:solidFill>
                <a:latin typeface="Times New Roman" panose="02020603050405020304" pitchFamily="18" charset="0"/>
                <a:cs typeface="Times New Roman" panose="02020603050405020304" pitchFamily="18" charset="0"/>
              </a:rPr>
              <a:pPr/>
              <a:t>16</a:t>
            </a:fld>
            <a:endParaRPr lang="en-US" dirty="0">
              <a:solidFill>
                <a:sysClr val="windowText" lastClr="000000"/>
              </a:solidFill>
              <a:latin typeface="Times New Roman" panose="02020603050405020304" pitchFamily="18" charset="0"/>
              <a:cs typeface="Times New Roman" panose="02020603050405020304" pitchFamily="18" charset="0"/>
            </a:endParaRPr>
          </a:p>
        </p:txBody>
      </p:sp>
      <p:sp>
        <p:nvSpPr>
          <p:cNvPr id="17" name="Content Placeholder 16"/>
          <p:cNvSpPr>
            <a:spLocks noGrp="1"/>
          </p:cNvSpPr>
          <p:nvPr>
            <p:ph idx="1"/>
          </p:nvPr>
        </p:nvSpPr>
        <p:spPr>
          <a:xfrm>
            <a:off x="609600" y="5257800"/>
            <a:ext cx="8077200" cy="609600"/>
          </a:xfrm>
        </p:spPr>
        <p:txBody>
          <a:bodyPr/>
          <a:lstStyle/>
          <a:p>
            <a:pPr algn="ctr">
              <a:buNone/>
            </a:pPr>
            <a:r>
              <a:rPr lang="en-US" sz="2000" dirty="0">
                <a:latin typeface="Times New Roman" pitchFamily="18" charset="0"/>
                <a:cs typeface="Times New Roman" pitchFamily="18" charset="0"/>
              </a:rPr>
              <a:t>Garbage level graph representation.</a:t>
            </a:r>
          </a:p>
          <a:p>
            <a:pPr>
              <a:buNone/>
            </a:pPr>
            <a:endParaRPr lang="en-US" dirty="0">
              <a:latin typeface="Times New Roman" pitchFamily="18" charset="0"/>
              <a:cs typeface="Times New Roman" pitchFamily="18" charset="0"/>
            </a:endParaRPr>
          </a:p>
        </p:txBody>
      </p:sp>
      <p:pic>
        <p:nvPicPr>
          <p:cNvPr id="18" name="image7.png"/>
          <p:cNvPicPr/>
          <p:nvPr/>
        </p:nvPicPr>
        <p:blipFill>
          <a:blip r:embed="rId2" cstate="print"/>
          <a:srcRect b="51391"/>
          <a:stretch>
            <a:fillRect/>
          </a:stretch>
        </p:blipFill>
        <p:spPr>
          <a:xfrm>
            <a:off x="838200" y="1295400"/>
            <a:ext cx="7162800" cy="3733800"/>
          </a:xfrm>
          <a:prstGeom prst="rect">
            <a:avLst/>
          </a:prstGeom>
        </p:spPr>
      </p:pic>
    </p:spTree>
    <p:extLst>
      <p:ext uri="{BB962C8B-B14F-4D97-AF65-F5344CB8AC3E}">
        <p14:creationId xmlns:p14="http://schemas.microsoft.com/office/powerpoint/2010/main" val="3520069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DC05915-2B1C-4F60-9A46-0FD458B1B053}"/>
              </a:ext>
            </a:extLst>
          </p:cNvPr>
          <p:cNvSpPr>
            <a:spLocks noGrp="1"/>
          </p:cNvSpPr>
          <p:nvPr>
            <p:ph type="sldNum" sz="quarter" idx="12"/>
          </p:nvPr>
        </p:nvSpPr>
        <p:spPr/>
        <p:txBody>
          <a:bodyPr/>
          <a:lstStyle/>
          <a:p>
            <a:fld id="{F90830EF-8BC9-4C07-AF45-D6B295C125CD}" type="slidenum">
              <a:rPr lang="en-US" smtClean="0"/>
              <a:pPr/>
              <a:t>17</a:t>
            </a:fld>
            <a:endParaRPr lang="en-US" dirty="0"/>
          </a:p>
        </p:txBody>
      </p:sp>
      <p:sp>
        <p:nvSpPr>
          <p:cNvPr id="6" name="TextBox 5">
            <a:extLst>
              <a:ext uri="{FF2B5EF4-FFF2-40B4-BE49-F238E27FC236}">
                <a16:creationId xmlns:a16="http://schemas.microsoft.com/office/drawing/2014/main" id="{EFB2373D-658C-486B-A075-3A4A5296B1E0}"/>
              </a:ext>
            </a:extLst>
          </p:cNvPr>
          <p:cNvSpPr txBox="1"/>
          <p:nvPr/>
        </p:nvSpPr>
        <p:spPr>
          <a:xfrm>
            <a:off x="2971800" y="5562600"/>
            <a:ext cx="4191000" cy="400110"/>
          </a:xfrm>
          <a:prstGeom prst="rect">
            <a:avLst/>
          </a:prstGeom>
          <a:noFill/>
        </p:spPr>
        <p:txBody>
          <a:bodyPr wrap="square" rtlCol="0">
            <a:spAutoFit/>
          </a:bodyPr>
          <a:lstStyle/>
          <a:p>
            <a:pPr algn="ctr"/>
            <a:r>
              <a:rPr lang="en-IN" sz="2000" dirty="0">
                <a:latin typeface="Times New Roman" panose="02020603050405020304" pitchFamily="18" charset="0"/>
                <a:cs typeface="Times New Roman" panose="02020603050405020304" pitchFamily="18" charset="0"/>
              </a:rPr>
              <a:t>Trigger Email notification in mail</a:t>
            </a:r>
          </a:p>
        </p:txBody>
      </p:sp>
      <p:pic>
        <p:nvPicPr>
          <p:cNvPr id="7" name="Picture 6"/>
          <p:cNvPicPr/>
          <p:nvPr/>
        </p:nvPicPr>
        <p:blipFill>
          <a:blip r:embed="rId2"/>
          <a:srcRect/>
          <a:stretch>
            <a:fillRect/>
          </a:stretch>
        </p:blipFill>
        <p:spPr bwMode="auto">
          <a:xfrm>
            <a:off x="990600" y="838200"/>
            <a:ext cx="7162800" cy="4343399"/>
          </a:xfrm>
          <a:prstGeom prst="rect">
            <a:avLst/>
          </a:prstGeom>
          <a:noFill/>
          <a:ln w="9525">
            <a:noFill/>
            <a:miter lim="800000"/>
            <a:headEnd/>
            <a:tailEnd/>
          </a:ln>
        </p:spPr>
      </p:pic>
    </p:spTree>
    <p:extLst>
      <p:ext uri="{BB962C8B-B14F-4D97-AF65-F5344CB8AC3E}">
        <p14:creationId xmlns:p14="http://schemas.microsoft.com/office/powerpoint/2010/main" val="20792249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1584" y="438912"/>
            <a:ext cx="8229600" cy="1143000"/>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CONCLUSION</a:t>
            </a:r>
          </a:p>
        </p:txBody>
      </p:sp>
      <p:sp>
        <p:nvSpPr>
          <p:cNvPr id="3" name="Content Placeholder 2"/>
          <p:cNvSpPr>
            <a:spLocks noGrp="1"/>
          </p:cNvSpPr>
          <p:nvPr>
            <p:ph idx="1"/>
          </p:nvPr>
        </p:nvSpPr>
        <p:spPr>
          <a:xfrm>
            <a:off x="457200" y="1600200"/>
            <a:ext cx="8229600" cy="4525963"/>
          </a:xfrm>
        </p:spPr>
        <p:txBody>
          <a:bodyPr>
            <a:normAutofit fontScale="92500" lnSpcReduction="10000"/>
          </a:bodyPr>
          <a:lstStyle/>
          <a:p>
            <a:pPr algn="just">
              <a:buFont typeface="Wingdings" pitchFamily="2" charset="2"/>
              <a:buChar char="Ø"/>
            </a:pPr>
            <a:r>
              <a:rPr lang="en-US" sz="2400" dirty="0">
                <a:latin typeface="Times New Roman" pitchFamily="18" charset="0"/>
                <a:cs typeface="Times New Roman" pitchFamily="18" charset="0"/>
              </a:rPr>
              <a:t>The main objective is to maintain the level of cleanliness in the city and form an environment which is better for living. </a:t>
            </a:r>
          </a:p>
          <a:p>
            <a:pPr algn="just">
              <a:buNone/>
            </a:pPr>
            <a:endParaRPr lang="en-US" sz="2400" dirty="0">
              <a:latin typeface="Times New Roman" pitchFamily="18" charset="0"/>
              <a:cs typeface="Times New Roman" pitchFamily="18" charset="0"/>
            </a:endParaRPr>
          </a:p>
          <a:p>
            <a:pPr algn="just">
              <a:buFont typeface="Wingdings" pitchFamily="2" charset="2"/>
              <a:buChar char="Ø"/>
            </a:pPr>
            <a:r>
              <a:rPr lang="en-US" sz="2400" dirty="0">
                <a:latin typeface="Times New Roman" pitchFamily="18" charset="0"/>
                <a:cs typeface="Times New Roman" pitchFamily="18" charset="0"/>
              </a:rPr>
              <a:t>By using this system we can constantly check the level of the garbage in the dustbins.</a:t>
            </a:r>
          </a:p>
          <a:p>
            <a:pPr algn="just">
              <a:buNone/>
            </a:pPr>
            <a:endParaRPr lang="en-US" sz="2400" dirty="0">
              <a:latin typeface="Times New Roman" pitchFamily="18" charset="0"/>
              <a:cs typeface="Times New Roman" pitchFamily="18" charset="0"/>
            </a:endParaRPr>
          </a:p>
          <a:p>
            <a:pPr algn="just">
              <a:buFont typeface="Wingdings" pitchFamily="2" charset="2"/>
              <a:buChar char="Ø"/>
            </a:pPr>
            <a:r>
              <a:rPr lang="en-US" sz="2400" dirty="0">
                <a:latin typeface="Times New Roman" pitchFamily="18" charset="0"/>
                <a:cs typeface="Times New Roman" pitchFamily="18" charset="0"/>
              </a:rPr>
              <a:t>If a dustbin has reached the maximum level then the employees can be informed and they can immediately take certain actions to empty it as soon as possible. </a:t>
            </a:r>
          </a:p>
          <a:p>
            <a:pPr algn="just">
              <a:buNone/>
            </a:pPr>
            <a:endParaRPr lang="en-US" sz="2400" dirty="0">
              <a:latin typeface="Times New Roman" pitchFamily="18" charset="0"/>
              <a:cs typeface="Times New Roman" pitchFamily="18" charset="0"/>
            </a:endParaRPr>
          </a:p>
          <a:p>
            <a:pPr algn="just">
              <a:buFont typeface="Wingdings" pitchFamily="2" charset="2"/>
              <a:buChar char="Ø"/>
            </a:pPr>
            <a:r>
              <a:rPr lang="en-US" sz="2400" dirty="0">
                <a:latin typeface="Times New Roman" pitchFamily="18" charset="0"/>
                <a:cs typeface="Times New Roman" pitchFamily="18" charset="0"/>
              </a:rPr>
              <a:t>The employees can check the status of these bins anytime on their mobile phones. This can prove to be a very useful system if used properly.</a:t>
            </a:r>
          </a:p>
          <a:p>
            <a:pPr algn="just">
              <a:buFont typeface="Wingdings" pitchFamily="2" charset="2"/>
              <a:buChar char="Ø"/>
            </a:pPr>
            <a:endParaRPr lang="en-US" sz="2400" dirty="0">
              <a:latin typeface="Times New Roman" pitchFamily="18" charset="0"/>
              <a:cs typeface="Times New Roman" pitchFamily="18" charset="0"/>
            </a:endParaRPr>
          </a:p>
        </p:txBody>
      </p:sp>
      <p:sp>
        <p:nvSpPr>
          <p:cNvPr id="5" name="Slide Number Placeholder 4">
            <a:extLst>
              <a:ext uri="{FF2B5EF4-FFF2-40B4-BE49-F238E27FC236}">
                <a16:creationId xmlns:a16="http://schemas.microsoft.com/office/drawing/2014/main" id="{044FFA56-1E55-4EF7-AB90-8E7F54A76FC3}"/>
              </a:ext>
            </a:extLst>
          </p:cNvPr>
          <p:cNvSpPr>
            <a:spLocks noGrp="1"/>
          </p:cNvSpPr>
          <p:nvPr>
            <p:ph type="sldNum" sz="quarter" idx="12"/>
          </p:nvPr>
        </p:nvSpPr>
        <p:spPr>
          <a:xfrm>
            <a:off x="6553200" y="6324600"/>
            <a:ext cx="2133600" cy="365125"/>
          </a:xfrm>
        </p:spPr>
        <p:txBody>
          <a:bodyPr/>
          <a:lstStyle/>
          <a:p>
            <a:fld id="{F90830EF-8BC9-4C07-AF45-D6B295C125CD}" type="slidenum">
              <a:rPr lang="en-US" smtClean="0">
                <a:solidFill>
                  <a:sysClr val="windowText" lastClr="000000"/>
                </a:solidFill>
                <a:latin typeface="Times New Roman" panose="02020603050405020304" pitchFamily="18" charset="0"/>
                <a:cs typeface="Times New Roman" panose="02020603050405020304" pitchFamily="18" charset="0"/>
              </a:rPr>
              <a:pPr/>
              <a:t>18</a:t>
            </a:fld>
            <a:endParaRPr lang="en-US" dirty="0">
              <a:solidFill>
                <a:sysClr val="windowText" lastClr="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82AEB6-B57A-4B54-A054-0CA3F9B09E62}"/>
              </a:ext>
            </a:extLst>
          </p:cNvPr>
          <p:cNvSpPr>
            <a:spLocks noGrp="1"/>
          </p:cNvSpPr>
          <p:nvPr>
            <p:ph idx="1"/>
          </p:nvPr>
        </p:nvSpPr>
        <p:spPr>
          <a:xfrm>
            <a:off x="838200" y="1828800"/>
            <a:ext cx="7924800" cy="4525963"/>
          </a:xfrm>
        </p:spPr>
        <p:txBody>
          <a:bodyPr>
            <a:normAutofit/>
          </a:bodyPr>
          <a:lstStyle/>
          <a:p>
            <a:pPr>
              <a:buFont typeface="Wingdings" panose="05000000000000000000" pitchFamily="2" charset="2"/>
              <a:buChar char="Ø"/>
            </a:pPr>
            <a:r>
              <a:rPr lang="en-US" sz="2400" dirty="0">
                <a:latin typeface="Times New Roman" pitchFamily="18" charset="0"/>
                <a:cs typeface="Times New Roman" pitchFamily="18" charset="0"/>
              </a:rPr>
              <a:t>The system provides us with the real time information and status of garbage bins located in different areas. </a:t>
            </a:r>
          </a:p>
          <a:p>
            <a:pPr>
              <a:buNone/>
            </a:pPr>
            <a:endParaRPr lang="en-US" sz="2400" dirty="0">
              <a:latin typeface="Times New Roman" pitchFamily="18" charset="0"/>
              <a:cs typeface="Times New Roman" pitchFamily="18" charset="0"/>
            </a:endParaRPr>
          </a:p>
          <a:p>
            <a:pPr>
              <a:buFont typeface="Wingdings" panose="05000000000000000000" pitchFamily="2" charset="2"/>
              <a:buChar char="Ø"/>
            </a:pPr>
            <a:r>
              <a:rPr lang="en-US" sz="2400" dirty="0">
                <a:latin typeface="Times New Roman" pitchFamily="18" charset="0"/>
                <a:cs typeface="Times New Roman" pitchFamily="18" charset="0"/>
              </a:rPr>
              <a:t>With the help of this real time information we can monitor the bins and once the bins are full the workers can collect the garbage and set them to empty again.</a:t>
            </a:r>
          </a:p>
          <a:p>
            <a:pPr>
              <a:buFont typeface="Wingdings" panose="05000000000000000000" pitchFamily="2" charset="2"/>
              <a:buChar char="Ø"/>
            </a:pPr>
            <a:endParaRPr lang="en-US" sz="2400" dirty="0">
              <a:latin typeface="Times New Roman" pitchFamily="18" charset="0"/>
              <a:cs typeface="Times New Roman" pitchFamily="18" charset="0"/>
            </a:endParaRPr>
          </a:p>
          <a:p>
            <a:pPr>
              <a:buFont typeface="Wingdings" panose="05000000000000000000" pitchFamily="2" charset="2"/>
              <a:buChar char="Ø"/>
            </a:pPr>
            <a:r>
              <a:rPr lang="en-US" sz="2400" dirty="0">
                <a:latin typeface="Times New Roman" pitchFamily="18" charset="0"/>
                <a:cs typeface="Times New Roman" pitchFamily="18" charset="0"/>
              </a:rPr>
              <a:t>This system is cost effective and can be accessed from anywhere.</a:t>
            </a:r>
            <a:endParaRPr lang="en-IN" sz="2400" dirty="0">
              <a:latin typeface="Times New Roman" pitchFamily="18" charset="0"/>
              <a:cs typeface="Times New Roman" pitchFamily="18" charset="0"/>
            </a:endParaRPr>
          </a:p>
        </p:txBody>
      </p:sp>
      <p:sp>
        <p:nvSpPr>
          <p:cNvPr id="4" name="Title 1">
            <a:extLst>
              <a:ext uri="{FF2B5EF4-FFF2-40B4-BE49-F238E27FC236}">
                <a16:creationId xmlns:a16="http://schemas.microsoft.com/office/drawing/2014/main" id="{159ADA09-1AA4-4A01-934B-CE579A3193C1}"/>
              </a:ext>
            </a:extLst>
          </p:cNvPr>
          <p:cNvSpPr txBox="1">
            <a:spLocks/>
          </p:cNvSpPr>
          <p:nvPr/>
        </p:nvSpPr>
        <p:spPr>
          <a:xfrm>
            <a:off x="457200" y="457200"/>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FUTURE WORKS</a:t>
            </a:r>
          </a:p>
        </p:txBody>
      </p:sp>
      <p:sp>
        <p:nvSpPr>
          <p:cNvPr id="5" name="Slide Number Placeholder 4">
            <a:extLst>
              <a:ext uri="{FF2B5EF4-FFF2-40B4-BE49-F238E27FC236}">
                <a16:creationId xmlns:a16="http://schemas.microsoft.com/office/drawing/2014/main" id="{76A50D6C-1151-49E3-9C53-295ED600161F}"/>
              </a:ext>
            </a:extLst>
          </p:cNvPr>
          <p:cNvSpPr>
            <a:spLocks noGrp="1"/>
          </p:cNvSpPr>
          <p:nvPr>
            <p:ph type="sldNum" sz="quarter" idx="12"/>
          </p:nvPr>
        </p:nvSpPr>
        <p:spPr/>
        <p:txBody>
          <a:bodyPr/>
          <a:lstStyle/>
          <a:p>
            <a:fld id="{F90830EF-8BC9-4C07-AF45-D6B295C125CD}" type="slidenum">
              <a:rPr lang="en-US" smtClean="0">
                <a:solidFill>
                  <a:sysClr val="windowText" lastClr="000000"/>
                </a:solidFill>
                <a:latin typeface="Times New Roman" panose="02020603050405020304" pitchFamily="18" charset="0"/>
                <a:cs typeface="Times New Roman" panose="02020603050405020304" pitchFamily="18" charset="0"/>
              </a:rPr>
              <a:pPr/>
              <a:t>19</a:t>
            </a:fld>
            <a:endParaRPr lang="en-US" dirty="0">
              <a:solidFill>
                <a:sysClr val="windowText" lastClr="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65529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A924D-BE4D-424E-A1E9-1C4734547EC8}"/>
              </a:ext>
            </a:extLst>
          </p:cNvPr>
          <p:cNvSpPr txBox="1">
            <a:spLocks/>
          </p:cNvSpPr>
          <p:nvPr/>
        </p:nvSpPr>
        <p:spPr>
          <a:xfrm>
            <a:off x="332024" y="355296"/>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REFERENCES</a:t>
            </a:r>
            <a:endParaRPr lang="en-IN" sz="32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B462148-7932-4FF0-870E-972EDB4B7487}"/>
              </a:ext>
            </a:extLst>
          </p:cNvPr>
          <p:cNvSpPr txBox="1"/>
          <p:nvPr/>
        </p:nvSpPr>
        <p:spPr>
          <a:xfrm>
            <a:off x="457200" y="1371601"/>
            <a:ext cx="7696200" cy="5139869"/>
          </a:xfrm>
          <a:prstGeom prst="rect">
            <a:avLst/>
          </a:prstGeom>
          <a:noFill/>
        </p:spPr>
        <p:txBody>
          <a:bodyPr wrap="square" rtlCol="0">
            <a:spAutoFit/>
          </a:bodyPr>
          <a:lstStyle/>
          <a:p>
            <a:pPr marL="457200" lvl="0" indent="-457200" algn="just"/>
            <a:r>
              <a:rPr lang="en-US" sz="2400" dirty="0">
                <a:latin typeface="Times New Roman" pitchFamily="18" charset="0"/>
                <a:cs typeface="Times New Roman" pitchFamily="18" charset="0"/>
              </a:rPr>
              <a:t>1. </a:t>
            </a:r>
            <a:r>
              <a:rPr lang="en-US" sz="2000" dirty="0" err="1">
                <a:latin typeface="Times New Roman" pitchFamily="18" charset="0"/>
                <a:cs typeface="Times New Roman" pitchFamily="18" charset="0"/>
              </a:rPr>
              <a:t>Alexey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Medvedev</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Petr</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Fedchenkov</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ArkadyZaslavsky</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Theodoros</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Anagnostopoulos</a:t>
            </a:r>
            <a:r>
              <a:rPr lang="en-US" sz="2000" dirty="0">
                <a:latin typeface="Times New Roman" pitchFamily="18" charset="0"/>
                <a:cs typeface="Times New Roman" pitchFamily="18" charset="0"/>
              </a:rPr>
              <a:t> Sergey </a:t>
            </a:r>
            <a:r>
              <a:rPr lang="en-US" sz="2000" dirty="0" err="1">
                <a:latin typeface="Times New Roman" pitchFamily="18" charset="0"/>
                <a:cs typeface="Times New Roman" pitchFamily="18" charset="0"/>
              </a:rPr>
              <a:t>Khoruzhnikov</a:t>
            </a:r>
            <a:r>
              <a:rPr lang="en-US" sz="2000" dirty="0">
                <a:latin typeface="Times New Roman" pitchFamily="18" charset="0"/>
                <a:cs typeface="Times New Roman" pitchFamily="18" charset="0"/>
              </a:rPr>
              <a:t> (2015), “Waste Management as an </a:t>
            </a:r>
            <a:r>
              <a:rPr lang="en-US" sz="2000" dirty="0" err="1">
                <a:latin typeface="Times New Roman" pitchFamily="18" charset="0"/>
                <a:cs typeface="Times New Roman" pitchFamily="18" charset="0"/>
              </a:rPr>
              <a:t>IoT</a:t>
            </a:r>
            <a:r>
              <a:rPr lang="en-US" sz="2000" dirty="0">
                <a:latin typeface="Times New Roman" pitchFamily="18" charset="0"/>
                <a:cs typeface="Times New Roman" pitchFamily="18" charset="0"/>
              </a:rPr>
              <a:t>- Enabled Service in Smart Cities”.</a:t>
            </a:r>
          </a:p>
          <a:p>
            <a:pPr marL="457200" lvl="0" indent="-457200" algn="just"/>
            <a:endParaRPr lang="en-US" sz="2000" dirty="0">
              <a:latin typeface="Times New Roman" pitchFamily="18" charset="0"/>
              <a:cs typeface="Times New Roman" pitchFamily="18" charset="0"/>
            </a:endParaRPr>
          </a:p>
          <a:p>
            <a:pPr marL="457200" indent="-457200" algn="just"/>
            <a:r>
              <a:rPr lang="en-US" sz="2000" dirty="0">
                <a:latin typeface="Times New Roman" pitchFamily="18" charset="0"/>
                <a:cs typeface="Times New Roman" pitchFamily="18" charset="0"/>
              </a:rPr>
              <a:t>2. </a:t>
            </a:r>
            <a:r>
              <a:rPr lang="en-US" sz="2000" dirty="0" err="1">
                <a:latin typeface="Times New Roman" pitchFamily="18" charset="0"/>
                <a:cs typeface="Times New Roman" pitchFamily="18" charset="0"/>
              </a:rPr>
              <a:t>Fetulhak</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Abdurahman</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Sileshi</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Aweke</a:t>
            </a:r>
            <a:r>
              <a:rPr lang="en-US" sz="2000" dirty="0">
                <a:latin typeface="Times New Roman" pitchFamily="18" charset="0"/>
                <a:cs typeface="Times New Roman" pitchFamily="18" charset="0"/>
              </a:rPr>
              <a:t> and </a:t>
            </a:r>
            <a:r>
              <a:rPr lang="en-US" sz="2000" dirty="0" err="1">
                <a:latin typeface="Times New Roman" pitchFamily="18" charset="0"/>
                <a:cs typeface="Times New Roman" pitchFamily="18" charset="0"/>
              </a:rPr>
              <a:t>Chera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Assefa</a:t>
            </a:r>
            <a:r>
              <a:rPr lang="en-US" sz="2000" dirty="0">
                <a:latin typeface="Times New Roman" pitchFamily="18" charset="0"/>
                <a:cs typeface="Times New Roman" pitchFamily="18" charset="0"/>
              </a:rPr>
              <a:t> (2018), “Automated Garbage Monitoring System using </a:t>
            </a:r>
            <a:r>
              <a:rPr lang="en-US" sz="2000" dirty="0" err="1">
                <a:latin typeface="Times New Roman" pitchFamily="18" charset="0"/>
                <a:cs typeface="Times New Roman" pitchFamily="18" charset="0"/>
              </a:rPr>
              <a:t>Arduino</a:t>
            </a:r>
            <a:r>
              <a:rPr lang="en-US" sz="2000" dirty="0">
                <a:latin typeface="Times New Roman" pitchFamily="18" charset="0"/>
                <a:cs typeface="Times New Roman" pitchFamily="18" charset="0"/>
              </a:rPr>
              <a:t>”, in IOSR Journal of Computer Engineering (IOSR-JCE),Volume 20.</a:t>
            </a:r>
          </a:p>
          <a:p>
            <a:pPr marL="457200" indent="-457200" algn="just"/>
            <a:endParaRPr lang="en-US" sz="2000" dirty="0">
              <a:latin typeface="Times New Roman" pitchFamily="18" charset="0"/>
              <a:cs typeface="Times New Roman" pitchFamily="18" charset="0"/>
            </a:endParaRPr>
          </a:p>
          <a:p>
            <a:pPr marL="457200" indent="-457200" algn="just"/>
            <a:r>
              <a:rPr lang="en-US" sz="2000" dirty="0">
                <a:latin typeface="Times New Roman" pitchFamily="18" charset="0"/>
                <a:cs typeface="Times New Roman" pitchFamily="18" charset="0"/>
              </a:rPr>
              <a:t>3. </a:t>
            </a:r>
            <a:r>
              <a:rPr lang="en-US" sz="2000" dirty="0" err="1">
                <a:latin typeface="Times New Roman" pitchFamily="18" charset="0"/>
                <a:cs typeface="Times New Roman" pitchFamily="18" charset="0"/>
              </a:rPr>
              <a:t>Ghose</a:t>
            </a:r>
            <a:r>
              <a:rPr lang="en-US" sz="2000" dirty="0">
                <a:latin typeface="Times New Roman" pitchFamily="18" charset="0"/>
                <a:cs typeface="Times New Roman" pitchFamily="18" charset="0"/>
              </a:rPr>
              <a:t> M.K., </a:t>
            </a:r>
            <a:r>
              <a:rPr lang="en-US" sz="2000" dirty="0" err="1">
                <a:latin typeface="Times New Roman" pitchFamily="18" charset="0"/>
                <a:cs typeface="Times New Roman" pitchFamily="18" charset="0"/>
              </a:rPr>
              <a:t>Dikshit</a:t>
            </a:r>
            <a:r>
              <a:rPr lang="en-US" sz="2000" dirty="0">
                <a:latin typeface="Times New Roman" pitchFamily="18" charset="0"/>
                <a:cs typeface="Times New Roman" pitchFamily="18" charset="0"/>
              </a:rPr>
              <a:t> A.K, Sharma S.K (2006),“A GIS based transportation model for solid waste disposal – A case study on </a:t>
            </a:r>
            <a:r>
              <a:rPr lang="en-US" sz="2000" dirty="0" err="1">
                <a:latin typeface="Times New Roman" pitchFamily="18" charset="0"/>
                <a:cs typeface="Times New Roman" pitchFamily="18" charset="0"/>
              </a:rPr>
              <a:t>Asansol</a:t>
            </a:r>
            <a:r>
              <a:rPr lang="en-US" sz="2000" dirty="0">
                <a:latin typeface="Times New Roman" pitchFamily="18" charset="0"/>
                <a:cs typeface="Times New Roman" pitchFamily="18" charset="0"/>
              </a:rPr>
              <a:t> municipality. </a:t>
            </a:r>
          </a:p>
          <a:p>
            <a:pPr lvl="0"/>
            <a:endParaRPr lang="en-US" sz="2400" dirty="0">
              <a:latin typeface="Times New Roman" pitchFamily="18" charset="0"/>
              <a:cs typeface="Times New Roman" pitchFamily="18" charset="0"/>
            </a:endParaRPr>
          </a:p>
          <a:p>
            <a:pPr marL="457189" indent="-457189" algn="just">
              <a:buFont typeface="+mj-lt"/>
              <a:buAutoNum type="arabicPeriod"/>
            </a:pPr>
            <a:endParaRPr lang="en-IN" sz="2000" dirty="0">
              <a:latin typeface="Times New Roman" panose="02020603050405020304" pitchFamily="18" charset="0"/>
              <a:cs typeface="Times New Roman" panose="02020603050405020304" pitchFamily="18" charset="0"/>
            </a:endParaRPr>
          </a:p>
          <a:p>
            <a:pPr marL="457189" indent="-457189" algn="just">
              <a:buFont typeface="+mj-lt"/>
              <a:buAutoNum type="arabicPeriod"/>
            </a:pPr>
            <a:endParaRPr lang="en-US"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EB0AB391-1A39-4DB1-8821-6E92C01348F9}"/>
              </a:ext>
            </a:extLst>
          </p:cNvPr>
          <p:cNvSpPr>
            <a:spLocks noGrp="1"/>
          </p:cNvSpPr>
          <p:nvPr>
            <p:ph type="sldNum" sz="quarter" idx="12"/>
          </p:nvPr>
        </p:nvSpPr>
        <p:spPr/>
        <p:txBody>
          <a:bodyPr/>
          <a:lstStyle/>
          <a:p>
            <a:fld id="{95A5A190-FBBB-4151-8911-165E8895451B}" type="slidenum">
              <a:rPr lang="en-US" smtClean="0">
                <a:solidFill>
                  <a:sysClr val="windowText" lastClr="000000"/>
                </a:solidFill>
                <a:latin typeface="Times New Roman" panose="02020603050405020304" pitchFamily="18" charset="0"/>
                <a:cs typeface="Times New Roman" panose="02020603050405020304" pitchFamily="18" charset="0"/>
              </a:rPr>
              <a:pPr/>
              <a:t>20</a:t>
            </a:fld>
            <a:endParaRPr lang="en-US" dirty="0">
              <a:solidFill>
                <a:sysClr val="windowText" lastClr="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48196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74638"/>
            <a:ext cx="8229600" cy="1143000"/>
          </a:xfrm>
        </p:spPr>
        <p:txBody>
          <a:bodyPr>
            <a:normAutofit/>
          </a:bodyPr>
          <a:lstStyle/>
          <a:p>
            <a:r>
              <a:rPr lang="en-US" sz="32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REFERENCES</a:t>
            </a:r>
            <a:endParaRPr lang="en-US" sz="3200" b="1" dirty="0">
              <a:solidFill>
                <a:srgbClr val="FF0000"/>
              </a:solidFill>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533400" y="1417638"/>
            <a:ext cx="8153400" cy="4708525"/>
          </a:xfrm>
        </p:spPr>
        <p:txBody>
          <a:bodyPr>
            <a:normAutofit/>
          </a:bodyPr>
          <a:lstStyle/>
          <a:p>
            <a:pPr lvl="0" algn="just">
              <a:buNone/>
            </a:pPr>
            <a:r>
              <a:rPr lang="en-US" sz="2000" dirty="0"/>
              <a:t>4. </a:t>
            </a:r>
            <a:r>
              <a:rPr lang="en-US" sz="2000" dirty="0">
                <a:latin typeface="Times New Roman" pitchFamily="18" charset="0"/>
                <a:cs typeface="Times New Roman" pitchFamily="18" charset="0"/>
              </a:rPr>
              <a:t>Guerrero, L.A., Maas, G., </a:t>
            </a:r>
            <a:r>
              <a:rPr lang="en-US" sz="2000" dirty="0" err="1">
                <a:latin typeface="Times New Roman" pitchFamily="18" charset="0"/>
                <a:cs typeface="Times New Roman" pitchFamily="18" charset="0"/>
              </a:rPr>
              <a:t>Hogland</a:t>
            </a:r>
            <a:r>
              <a:rPr lang="en-US" sz="2000" dirty="0">
                <a:latin typeface="Times New Roman" pitchFamily="18" charset="0"/>
                <a:cs typeface="Times New Roman" pitchFamily="18" charset="0"/>
              </a:rPr>
              <a:t> W. (2013), “Solid waste management challenges for cities in developing countries. Journal of Waste Management.</a:t>
            </a:r>
          </a:p>
          <a:p>
            <a:pPr marL="457189" indent="-457189" algn="just">
              <a:buNone/>
            </a:pPr>
            <a:endParaRPr lang="en-IN" sz="2000" b="0" dirty="0">
              <a:latin typeface="Times New Roman" panose="02020603050405020304" pitchFamily="18" charset="0"/>
              <a:cs typeface="Times New Roman" panose="02020603050405020304" pitchFamily="18" charset="0"/>
            </a:endParaRPr>
          </a:p>
          <a:p>
            <a:pPr marL="457189" lvl="0" indent="-457189" algn="just">
              <a:buNone/>
            </a:pPr>
            <a:r>
              <a:rPr lang="en-IN" sz="2000" dirty="0">
                <a:latin typeface="Times New Roman" panose="02020603050405020304" pitchFamily="18" charset="0"/>
                <a:cs typeface="Times New Roman" panose="02020603050405020304" pitchFamily="18" charset="0"/>
              </a:rPr>
              <a:t>5. </a:t>
            </a:r>
            <a:r>
              <a:rPr lang="en-US" sz="2000" dirty="0">
                <a:latin typeface="Times New Roman" pitchFamily="18" charset="0"/>
                <a:cs typeface="Times New Roman" pitchFamily="18" charset="0"/>
              </a:rPr>
              <a:t>Monika K A, </a:t>
            </a:r>
            <a:r>
              <a:rPr lang="en-US" sz="2000" dirty="0" err="1">
                <a:latin typeface="Times New Roman" pitchFamily="18" charset="0"/>
                <a:cs typeface="Times New Roman" pitchFamily="18" charset="0"/>
              </a:rPr>
              <a:t>Nikitha</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Rao</a:t>
            </a:r>
            <a:r>
              <a:rPr lang="en-US" sz="2000" dirty="0">
                <a:latin typeface="Times New Roman" pitchFamily="18" charset="0"/>
                <a:cs typeface="Times New Roman" pitchFamily="18" charset="0"/>
              </a:rPr>
              <a:t>, </a:t>
            </a:r>
            <a:r>
              <a:rPr lang="en-US" sz="2000" dirty="0" err="1">
                <a:latin typeface="Times New Roman" pitchFamily="18" charset="0"/>
                <a:cs typeface="Times New Roman" pitchFamily="18" charset="0"/>
              </a:rPr>
              <a:t>Prapulla</a:t>
            </a:r>
            <a:r>
              <a:rPr lang="en-US" sz="2000" dirty="0">
                <a:latin typeface="Times New Roman" pitchFamily="18" charset="0"/>
                <a:cs typeface="Times New Roman" pitchFamily="18" charset="0"/>
              </a:rPr>
              <a:t> S B, </a:t>
            </a:r>
            <a:r>
              <a:rPr lang="en-US" sz="2000" dirty="0" err="1">
                <a:latin typeface="Times New Roman" pitchFamily="18" charset="0"/>
                <a:cs typeface="Times New Roman" pitchFamily="18" charset="0"/>
              </a:rPr>
              <a:t>Shobha</a:t>
            </a:r>
            <a:r>
              <a:rPr lang="en-US" sz="2000" dirty="0">
                <a:latin typeface="Times New Roman" pitchFamily="18" charset="0"/>
                <a:cs typeface="Times New Roman" pitchFamily="18" charset="0"/>
              </a:rPr>
              <a:t> G,(2017),“Smart </a:t>
            </a:r>
            <a:r>
              <a:rPr lang="en-US" sz="2000" dirty="0" err="1">
                <a:latin typeface="Times New Roman" pitchFamily="18" charset="0"/>
                <a:cs typeface="Times New Roman" pitchFamily="18" charset="0"/>
              </a:rPr>
              <a:t>Dustbin,An</a:t>
            </a:r>
            <a:r>
              <a:rPr lang="en-US" sz="2000" dirty="0">
                <a:latin typeface="Times New Roman" pitchFamily="18" charset="0"/>
                <a:cs typeface="Times New Roman" pitchFamily="18" charset="0"/>
              </a:rPr>
              <a:t> Efficient Garbage Monitoring System”.</a:t>
            </a:r>
            <a:endParaRPr lang="en-IN" sz="2000" dirty="0">
              <a:latin typeface="Times New Roman" panose="02020603050405020304" pitchFamily="18" charset="0"/>
              <a:cs typeface="Times New Roman" panose="02020603050405020304" pitchFamily="18" charset="0"/>
            </a:endParaRPr>
          </a:p>
          <a:p>
            <a:endParaRPr lang="en-US" sz="2000" dirty="0"/>
          </a:p>
        </p:txBody>
      </p:sp>
      <p:sp>
        <p:nvSpPr>
          <p:cNvPr id="5" name="Slide Number Placeholder 4">
            <a:extLst>
              <a:ext uri="{FF2B5EF4-FFF2-40B4-BE49-F238E27FC236}">
                <a16:creationId xmlns:a16="http://schemas.microsoft.com/office/drawing/2014/main" id="{FC4D5351-241A-4AE7-9B90-C7C7D19E801F}"/>
              </a:ext>
            </a:extLst>
          </p:cNvPr>
          <p:cNvSpPr>
            <a:spLocks noGrp="1"/>
          </p:cNvSpPr>
          <p:nvPr>
            <p:ph type="sldNum" sz="quarter" idx="12"/>
          </p:nvPr>
        </p:nvSpPr>
        <p:spPr/>
        <p:txBody>
          <a:bodyPr/>
          <a:lstStyle/>
          <a:p>
            <a:fld id="{F90830EF-8BC9-4C07-AF45-D6B295C125CD}" type="slidenum">
              <a:rPr lang="en-US" smtClean="0">
                <a:solidFill>
                  <a:sysClr val="windowText" lastClr="000000"/>
                </a:solidFill>
                <a:latin typeface="Times New Roman" panose="02020603050405020304" pitchFamily="18" charset="0"/>
                <a:cs typeface="Times New Roman" panose="02020603050405020304" pitchFamily="18" charset="0"/>
              </a:rPr>
              <a:pPr/>
              <a:t>21</a:t>
            </a:fld>
            <a:endParaRPr lang="en-US" dirty="0">
              <a:solidFill>
                <a:sysClr val="windowText" lastClr="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7C2CE965-D5B9-4F56-BAAF-FB1A97174D43}"/>
              </a:ext>
            </a:extLst>
          </p:cNvPr>
          <p:cNvSpPr txBox="1">
            <a:spLocks/>
          </p:cNvSpPr>
          <p:nvPr/>
        </p:nvSpPr>
        <p:spPr>
          <a:xfrm>
            <a:off x="533400" y="1828800"/>
            <a:ext cx="8229600" cy="4525963"/>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buFont typeface="Arial" pitchFamily="34" charset="0"/>
              <a:buNone/>
            </a:pPr>
            <a:endParaRPr lang="en-US" sz="4800" dirty="0">
              <a:solidFill>
                <a:srgbClr val="FF0000"/>
              </a:solidFill>
              <a:latin typeface="Algerian" pitchFamily="82" charset="0"/>
            </a:endParaRPr>
          </a:p>
          <a:p>
            <a:pPr algn="ctr">
              <a:buFont typeface="Arial" pitchFamily="34" charset="0"/>
              <a:buNone/>
            </a:pPr>
            <a:r>
              <a:rPr lang="en-US" sz="4800" dirty="0">
                <a:solidFill>
                  <a:srgbClr val="FF0000"/>
                </a:solidFill>
                <a:effectLst>
                  <a:outerShdw blurRad="38100" dist="38100" dir="2700000" algn="tl">
                    <a:srgbClr val="000000">
                      <a:alpha val="43137"/>
                    </a:srgbClr>
                  </a:outerShdw>
                </a:effectLst>
                <a:latin typeface="Algerian" pitchFamily="82" charset="0"/>
              </a:rPr>
              <a:t>Queries</a:t>
            </a:r>
          </a:p>
        </p:txBody>
      </p:sp>
      <p:sp>
        <p:nvSpPr>
          <p:cNvPr id="3" name="Slide Number Placeholder 2">
            <a:extLst>
              <a:ext uri="{FF2B5EF4-FFF2-40B4-BE49-F238E27FC236}">
                <a16:creationId xmlns:a16="http://schemas.microsoft.com/office/drawing/2014/main" id="{25671C6D-90D7-4F72-8B63-874F938D8501}"/>
              </a:ext>
            </a:extLst>
          </p:cNvPr>
          <p:cNvSpPr>
            <a:spLocks noGrp="1"/>
          </p:cNvSpPr>
          <p:nvPr>
            <p:ph type="sldNum" sz="quarter" idx="12"/>
          </p:nvPr>
        </p:nvSpPr>
        <p:spPr/>
        <p:txBody>
          <a:bodyPr/>
          <a:lstStyle/>
          <a:p>
            <a:fld id="{F90830EF-8BC9-4C07-AF45-D6B295C125CD}" type="slidenum">
              <a:rPr lang="en-US" smtClean="0">
                <a:solidFill>
                  <a:sysClr val="windowText" lastClr="000000"/>
                </a:solidFill>
                <a:latin typeface="Times New Roman" panose="02020603050405020304" pitchFamily="18" charset="0"/>
                <a:cs typeface="Times New Roman" panose="02020603050405020304" pitchFamily="18" charset="0"/>
              </a:rPr>
              <a:pPr/>
              <a:t>22</a:t>
            </a:fld>
            <a:endParaRPr lang="en-US" dirty="0">
              <a:solidFill>
                <a:sysClr val="windowText" lastClr="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1549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828800"/>
            <a:ext cx="8229600" cy="4525963"/>
          </a:xfrm>
        </p:spPr>
        <p:txBody>
          <a:bodyPr>
            <a:normAutofit/>
          </a:bodyPr>
          <a:lstStyle/>
          <a:p>
            <a:pPr algn="ctr">
              <a:buNone/>
            </a:pPr>
            <a:endParaRPr lang="en-US" sz="4800" dirty="0">
              <a:solidFill>
                <a:srgbClr val="FF0000"/>
              </a:solidFill>
              <a:latin typeface="Algerian" pitchFamily="82" charset="0"/>
            </a:endParaRPr>
          </a:p>
          <a:p>
            <a:pPr algn="ctr">
              <a:buNone/>
            </a:pPr>
            <a:r>
              <a:rPr lang="en-US" sz="4800" dirty="0">
                <a:solidFill>
                  <a:srgbClr val="FF0000"/>
                </a:solidFill>
                <a:effectLst>
                  <a:outerShdw blurRad="38100" dist="38100" dir="2700000" algn="tl">
                    <a:srgbClr val="000000">
                      <a:alpha val="43137"/>
                    </a:srgbClr>
                  </a:outerShdw>
                </a:effectLst>
                <a:latin typeface="Algerian" pitchFamily="82" charset="0"/>
              </a:rPr>
              <a:t>thank you</a:t>
            </a:r>
          </a:p>
        </p:txBody>
      </p:sp>
      <p:sp>
        <p:nvSpPr>
          <p:cNvPr id="4" name="Slide Number Placeholder 3">
            <a:extLst>
              <a:ext uri="{FF2B5EF4-FFF2-40B4-BE49-F238E27FC236}">
                <a16:creationId xmlns:a16="http://schemas.microsoft.com/office/drawing/2014/main" id="{A52A9CF6-25DD-4CAB-BDF7-F3BB8C6EEA76}"/>
              </a:ext>
            </a:extLst>
          </p:cNvPr>
          <p:cNvSpPr>
            <a:spLocks noGrp="1"/>
          </p:cNvSpPr>
          <p:nvPr>
            <p:ph type="sldNum" sz="quarter" idx="12"/>
          </p:nvPr>
        </p:nvSpPr>
        <p:spPr/>
        <p:txBody>
          <a:bodyPr/>
          <a:lstStyle/>
          <a:p>
            <a:fld id="{F90830EF-8BC9-4C07-AF45-D6B295C125CD}" type="slidenum">
              <a:rPr lang="en-US" smtClean="0">
                <a:solidFill>
                  <a:sysClr val="windowText" lastClr="000000"/>
                </a:solidFill>
                <a:latin typeface="Times New Roman" panose="02020603050405020304" pitchFamily="18" charset="0"/>
                <a:cs typeface="Times New Roman" panose="02020603050405020304" pitchFamily="18" charset="0"/>
              </a:rPr>
              <a:pPr/>
              <a:t>23</a:t>
            </a:fld>
            <a:endParaRPr lang="en-US" dirty="0">
              <a:solidFill>
                <a:sysClr val="windowText" lastClr="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2565</TotalTime>
  <Words>1085</Words>
  <Application>Microsoft Office PowerPoint</Application>
  <PresentationFormat>On-screen Show (4:3)</PresentationFormat>
  <Paragraphs>174</Paragraphs>
  <Slides>23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Algerian</vt:lpstr>
      <vt:lpstr>Arial</vt:lpstr>
      <vt:lpstr>Calibri</vt:lpstr>
      <vt:lpstr>Lucida Sans Unicode</vt:lpstr>
      <vt:lpstr>Times New Roman</vt:lpstr>
      <vt:lpstr>Wingdings</vt:lpstr>
      <vt:lpstr>Office Theme</vt:lpstr>
      <vt:lpstr>PowerPoint Presentation</vt:lpstr>
      <vt:lpstr>OUTLINE</vt:lpstr>
      <vt:lpstr>PowerPoint Presentation</vt:lpstr>
      <vt:lpstr>PowerPoint Presentation</vt:lpstr>
      <vt:lpstr>INTRODUCTION</vt:lpstr>
      <vt:lpstr>PowerPoint Presentation</vt:lpstr>
      <vt:lpstr>PowerPoint Presentation</vt:lpstr>
      <vt:lpstr>PowerPoint Presentation</vt:lpstr>
      <vt:lpstr>EXISTING SYSTEM</vt:lpstr>
      <vt:lpstr>PROPOSED SYSTEM</vt:lpstr>
      <vt:lpstr>BLOCK DIAGRAM </vt:lpstr>
      <vt:lpstr>DESCRIPTION</vt:lpstr>
      <vt:lpstr>HARDWARE REQUIREMENTS</vt:lpstr>
      <vt:lpstr>   SOFTWARE REQUIREMENTS</vt:lpstr>
      <vt:lpstr>ADVANTAGES</vt:lpstr>
      <vt:lpstr>OUTPUT IMAGES </vt:lpstr>
      <vt:lpstr>PowerPoint Presentation</vt:lpstr>
      <vt:lpstr>CONCLUSION</vt:lpstr>
      <vt:lpstr>PowerPoint Presentation</vt:lpstr>
      <vt:lpstr>PowerPoint Presentation</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dc:creator>
  <cp:lastModifiedBy>Megatheshwaran Ravichandran</cp:lastModifiedBy>
  <cp:revision>250</cp:revision>
  <dcterms:created xsi:type="dcterms:W3CDTF">2018-12-17T10:17:02Z</dcterms:created>
  <dcterms:modified xsi:type="dcterms:W3CDTF">2026-10-13T13:07:09Z</dcterms:modified>
</cp:coreProperties>
</file>